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Prahari: how the digital twin works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for type 2 diabetes · Team Songer, IIM Visakhapatnam · all data synthetic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241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DATA IN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0241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3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INGEST &amp; PROTECT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0241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DIGITAL TWIN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0241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HYBRID AI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875520" y="10241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CLINIC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" y="139903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EHR (Synthea)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75488" y="1691640"/>
            <a:ext cx="18745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sex, diagnosis, years since diagnosis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HbA1c, BMI, eGFR, BP, lipids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Medicines, comorbidities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genetic risk + family history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" y="292608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streams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" y="3218688"/>
            <a:ext cx="18745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 glucose every 5 min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heart rate, HRV (RMSSD), steps, sleep stages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log (photo/app), insulin pen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4425696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" y="4498848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patient simulator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75488" y="4791456"/>
            <a:ext cx="1874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people x 21 days, Indian routines, hidden physiology richer than the twin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132588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1EEFB"/>
          </a:solidFill>
          <a:ln w="12700">
            <a:solidFill>
              <a:srgbClr val="F1EE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52928" y="139903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B3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layer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852928" y="1691640"/>
            <a:ext cx="18745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bundles (ABDM-style) for the record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Time-aligned 5-min grid, gaps flagged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Pseudonymous IDs, only fields the model needs (DPDP data minimisation)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+ audit trail (design)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0" y="3447288"/>
            <a:ext cx="2057400" cy="2029968"/>
          </a:xfrm>
          <a:prstGeom prst="roundRect">
            <a:avLst>
              <a:gd name="adj" fmla="val 3604"/>
            </a:avLst>
          </a:prstGeom>
          <a:solidFill>
            <a:srgbClr val="F1EEFB"/>
          </a:solidFill>
          <a:ln w="12700">
            <a:solidFill>
              <a:srgbClr val="F1EE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52928" y="352044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B3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guard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852928" y="3813048"/>
            <a:ext cx="18745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time t, use only data before t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count once logged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learned in week 1 only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train / validation / test split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20640" y="132588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30368" y="139903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prior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230368" y="1691640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HbA1c, BMI, diagnosis, medicines set starting values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0640" y="2350008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30368" y="24231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fit (days 1-7)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230368" y="2715768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personal parameters by MAP: sensitivity, fasting level, meal gain, absorption, dawn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3465576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230368" y="3538728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sync (every 5 min)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230368" y="3831336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corrects state from CGM, estimates unlogged food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0640" y="4581144"/>
            <a:ext cx="2057400" cy="896112"/>
          </a:xfrm>
          <a:prstGeom prst="roundRect">
            <a:avLst>
              <a:gd name="adj" fmla="val 8163"/>
            </a:avLst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230368" y="4654296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Re-fit every night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230368" y="494690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7 days, warm start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49340" y="2240280"/>
            <a:ext cx="0" cy="10972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149340" y="3355848"/>
            <a:ext cx="0" cy="10972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149340" y="4471416"/>
            <a:ext cx="0" cy="10972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498080" y="132588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07808" y="139903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7607808" y="1691640"/>
            <a:ext cx="1874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 history and trend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Meals, insulin, steps, HR, HRV, sleep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features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forecast, peak, parameters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98080" y="2807208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07808" y="28803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models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7607808" y="3172968"/>
            <a:ext cx="18745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at 30/60/90/120 min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prediction band (quantiles)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risk: &gt;180 and &gt;250 in 2 h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top 3 reasons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98080" y="4334256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607808" y="4407408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7607808" y="4700016"/>
            <a:ext cx="1874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patients, days 8-21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Ablation, Clarke grid, AUROC, lead time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526780" y="2697480"/>
            <a:ext cx="0" cy="109728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875520" y="1325880"/>
            <a:ext cx="2057400" cy="2240280"/>
          </a:xfrm>
          <a:prstGeom prst="roundRect">
            <a:avLst>
              <a:gd name="adj" fmla="val 355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985248" y="139903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dashboard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9985248" y="1691640"/>
            <a:ext cx="187452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ranked by spike risk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forecast with band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top reasons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parameters over time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What-if: walk, portion, sleep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875520" y="3675888"/>
            <a:ext cx="2057400" cy="1801368"/>
          </a:xfrm>
          <a:prstGeom prst="roundRect">
            <a:avLst>
              <a:gd name="adj" fmla="val 406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985248" y="374904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nudge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9985248" y="4041648"/>
            <a:ext cx="187452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heads-up per meal, 120-min cooldown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action from the twin (e.g. 15-min walk)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sets thresholds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423160" y="2011680"/>
            <a:ext cx="320040" cy="0"/>
          </a:xfrm>
          <a:prstGeom prst="line">
            <a:avLst/>
          </a:prstGeom>
          <a:noFill/>
          <a:ln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423160" y="3566160"/>
            <a:ext cx="320040" cy="0"/>
          </a:xfrm>
          <a:prstGeom prst="line">
            <a:avLst/>
          </a:prstGeom>
          <a:noFill/>
          <a:ln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4800600" y="1828800"/>
            <a:ext cx="320040" cy="0"/>
          </a:xfrm>
          <a:prstGeom prst="line">
            <a:avLst/>
          </a:prstGeom>
          <a:noFill/>
          <a:ln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800600" y="3931920"/>
            <a:ext cx="320040" cy="0"/>
          </a:xfrm>
          <a:prstGeom prst="line">
            <a:avLst/>
          </a:prstGeom>
          <a:noFill/>
          <a:ln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7178040" y="1828800"/>
            <a:ext cx="320040" cy="0"/>
          </a:xfrm>
          <a:prstGeom prst="line">
            <a:avLst/>
          </a:prstGeom>
          <a:noFill/>
          <a:ln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7178040" y="3931920"/>
            <a:ext cx="320040" cy="0"/>
          </a:xfrm>
          <a:prstGeom prst="line">
            <a:avLst/>
          </a:prstGeom>
          <a:noFill/>
          <a:ln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9555480" y="2011680"/>
            <a:ext cx="320040" cy="0"/>
          </a:xfrm>
          <a:prstGeom prst="line">
            <a:avLst/>
          </a:prstGeom>
          <a:noFill/>
          <a:ln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9555480" y="4023360"/>
            <a:ext cx="320040" cy="0"/>
          </a:xfrm>
          <a:prstGeom prst="line">
            <a:avLst/>
          </a:prstGeom>
          <a:noFill/>
          <a:ln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365760" y="5650992"/>
            <a:ext cx="11567160" cy="777240"/>
          </a:xfrm>
          <a:prstGeom prst="roundRect">
            <a:avLst>
              <a:gd name="adj" fmla="val 7059"/>
            </a:avLst>
          </a:prstGeom>
          <a:solidFill>
            <a:srgbClr val="F3F5F8"/>
          </a:solidFill>
          <a:ln w="9525">
            <a:solidFill>
              <a:srgbClr val="C9D0D9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02920" y="5705856"/>
            <a:ext cx="11292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loop. </a:t>
            </a:r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CGM reading updates the twin's state; every night the twin re-fits its parameters; the hybrid model re-scores risk every 15 minutes. Stack: Python 3, NumPy, SciPy, Numba, pandas, LightGBM, SHAP, scikit-learn, Plotly.js dashboard (static, works offline). Not a medical device.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Prahari architecture</dc:title>
  <dc:subject>PptxGenJS Presentation</dc:subject>
  <dc:creator>Siddharth Yadav (Team Songer, IIM Visakhapatnam)</dc:creator>
  <cp:lastModifiedBy>Siddharth Yadav (Team Songer, IIM Visakhapatnam)</cp:lastModifiedBy>
  <cp:revision>1</cp:revision>
  <dcterms:created xsi:type="dcterms:W3CDTF">2026-10-20T11:29:11Z</dcterms:created>
  <dcterms:modified xsi:type="dcterms:W3CDTF">2026-10-20T11:29:11Z</dcterms:modified>
</cp:coreProperties>
</file>