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I am Siddharth Yadav from IIM Visakhapatnam, and this is Prahari, my entry for the Digital Twin Challenge 2026. Prahari means sentinel. It is a digital twin for people with type 2 diabetes. It joins a patient's medical record with their continuous glucose monitor and smartwatch, keeps a personal model of their body up to date, and warns the doctor and the patient about a glucose spike up to two hours before it happens. It also explains why, and it lets you simulate what would prevent it. Everything you will see runs on synthetic patients, so no real person's data was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scale. ICMR-INDIAB estimates that about 101 million Indian adults have diabetes and another 136 million have prediabetes. The IDF estimates that 43 percent of adults with diabetes in India do not even know it. And our diets are heavy in carbohydrate: about 62 percent of daily energy, according to the ICMR-INDIAB diet study. So the real damage happens after meals, many times a day. But what does the doctor see? Usually one HbA1c value every three months. It tells you the average. It does not tell you when glucose goes high, why, or what would have stopped it. CGMs and watches now capture that detail every five minutes, but the data sits in separate apps, nobody joins it to the medical record, and nobody turns it into a warning early enough to act on. That is the gap Prahari fills.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Prahari actually give the doctor? Four things. First, a warning: every 15 minutes it estimates the chance of a spike above 180, and of a severe spike above 250, in the next two hours, with a forecast and an uncertainty band. Second, an explanation: the top three reasons behind each alert, in plain words, so the doctor is never asked to trust a black box. Third, personalisation: every patient has a twin with five physiological parameters that are re-fitted every night. And fourth, action: the doctor can ask the twin what would happen if the patient walked for 15 minutes, ate a smaller portion or slept badly, and the patient gets at most one heads-up every two hours, with an action the twin has simulated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architecture. On the left, two kinds of data come in: the static health record, which gives age, diagnosis, HbA1c, kidney function, medicines and genetic risk; and the dynamic streams: CGM every five minutes, heart rate, heart-rate variability, steps and sleep stages from a watch, plus meals and insulin doses the patient logs. The ingestion layer converts the record to FHIR R4, the standard India's ABDM uses, keeps only the fields the model needs, and enforces one rule everywhere: at time t, only use information from before t. The third layer is the digital twin itself. It starts from a prior set by the record, is fitted to the patient in the first week, stays in sync with every CGM reading, and re-fits every night. The fourth layer is a hybrid AI model that combines the twin's forecast with all the other data. And the fifth layer is the clinic: a dashboard for the doctor and nudges for the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challenge allows synthetic data, so I built a virtual population. The static record comes from Synthea, an open-source synthetic patient generator. I kept 204 adults: all 94 with type 2 diabetes and 110 with prediabetes, with their labs, medicines and conditions. Synthea has no genetics, so I added a synthetic family history and a polygenic risk percentile, clearly labelled. Synthea sometimes produces an HbA1c that contradicts the diagnosis, like 2.4 percent, so I repair those within the right range and flag every repair. Then each person lives 21 days of an Indian routine: north or south Indian meals, tea with sugar, late dinners, walks, short nights and stressful days. A hidden physiology turns that into true glucose minute by minute, and I simulate what a CGM and a watch would record, including sensor noise and gaps. Importantly, this hidden physiology is richer than the twin. The twin never sees it, so it faces real model mismatch, just as it would with a real patient.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synthetic population is only useful if it behaves like real people, so I checked it against published studies. A 15-minute walk after a meal lowers post-meal glucose by 16 percent in my simulator; Reynolds and colleagues found 12 percent overall and 22 percent after dinner. A four-hour night cuts insulin sensitivity by a quarter, in line with Donga's study. The dawn rise, mean glucose against HbA1c, the slope of time in range against HbA1c and the CGM sensor error all sit close to published values. The chart on the right shows one virtual patient eating the same lunch on three days: a normal day, with a walk, and after a short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heart of it: the twin. It is a compact physiological model of glucose and insulin, based on the Bergman minimal model, with a gut, insulin injections, exercise and the effect of sleep loss. It works in four steps. First, a prior from the medical record: HbA1c, BMI, diagnosis and medicines set the starting values. Second, onboarding: in the first week I fit five personal parameters, insulin sensitivity, fasting level, meal response, absorption speed and the dawn effect, by asking the twin to forecast glucose two hours ahead and correcting it where it was wrong. Third, synchronisation: every five-minute CGM reading nudges the twin's state, and a disturbance term soaks up food the patient forgot to log. Fourth, it re-fits every night on the last seven days. Does the twin learn something real? Because I know the hidden truth, I can check. From the record alone you can barely rank patients by insulin sensitivity: the rank correlation with the truth is 0.37. After one week of wearing a CGM, the twin reaches 0.81. That is information the record simply does not contain. And a twin that re-fits every night forecasts better than one frozen after week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twin alone is good, but physics cannot know everything, for example that this person always has a big dinner at 9. So Prahari is hybrid. A LightGBM model gets 87 features from four groups: the CGM history, lifestyle signals from the watch and the meal log, the medical record, and the twin's own forecast and parameters. It predicts glucose at 30, 60, 90 and 120 minutes, with an uncertainty band, and the probability of a spike. The alert threshold is fixed on separate validation patients and never touched again. I was strict about leakage: test patients are never seen in training, every feature uses only information from before the moment of prediction, and a meal counts only once the patient has logged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forecasting results on 41 patients the model had never seen, over two weeks. The bars show the error two hours ahead. Assuming glucose stays where it is gives an error of 57 milligrams per decilitre. The twin alone gets 39. Machine learning on CGM alone gets 27.4. Adding wearables and meals helps, and adding the twin gives the best result, 24.2. The twin's contribution is small on average but statistically solid: about 1.7 milligrams per decilitre at one hour, with a confidence interval well above zero. Where it really matters is right after a meal, which is exactly when a spike is building: there, the one-hour error drops from 41 with CGM alone to 25 with Prahari. And 99.6 percent of forecasts fall in the clinically acceptable zones of the Clarke error grid.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adverse-event prediction the challenge asks for. A spike means glucose above 180 for at least 15 minutes. To compare models fairly, I set every model to send the same number of notifications, about 3 per patient per day. At that budget Prahari flags 76 percent of spikes at least 15 minutes before they start, with a median warning of 85 minutes, and 60 percent of its notifications are followed by a spike. I want to be honest about what does the work here. For alerts, the wearables and the meal log add the most, from 73 to 75 percent, and the twin adds only a little on top. Interestingly, the twin's physics on its own flags 78 percent of spikes, but only 35 minutes ahead, because it only knows about meals already eaten. The learned model stretches that warning to 85 minutes by learning each person's routine. Severe spikes above 250 are still hard: about 37 percent are flagged early. So the twin earns its place through better forecasts, the reasons it gives and the what-if answers, more than through the alert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dashboard a doctor would use. It is a single HTML file, so it works on any laptop, offline, and on GitHub Pages. On the left, patients are ranked by their risk of a spike in the next two hours. When you click a patient, you see their record, the alert card with the risk, the forecast high and the top three reasons, and a suggested nudge. Below that, the last twelve hours of glucose, meals and insulin, then the two-hour forecast with its band. You can replay any moment of the two test weeks. I will show it live in a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make it concrete with one patient, PT-185: a 44-year-old woman with type 2 diabetes, HbA1c 7.3 percent, on metformin. It is Mon, 21 Sept 14:15 and she logged a 132-gram rice lunch 14 minutes ago. Her glucose is 141, but Prahari gives a 95 percent risk of going above 180, with a forecast high of about 307 within the hour. The top reason is the twin's predicted peak. In the what-if panel the doctor can ask the twin: what if she walks for 15 minutes? The twin says the peak drops from 297 to 283 and she spends 15 fewer minutes above 180. On the right is her twin: her parameters against the other patients and how they changed day by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would this work in India? On interoperability, records move as FHIR R4, the standard in ABDM's FHIR implementation guide, and more than 93 crore ABHA accounts already exist to link them. On privacy, Prahari keeps only the fields the model needs and is designed around consent and purpose limits under the DPDP Rules, whose main duties apply from May 2027. On regulation, a tool that supports clinical decisions would be software as a medical device under CDSCO's risk-based classes, so the honest next step is validation on real CGM data and then a 12-week pilot with one diabetology clinic, measuring whether patients spend more time in range.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what these results do not show. Every patient here is synthetic, and synthetic people are more regular than real ones, so error on real data will be higher. For comparison, published deep-learning models on the real OhioT1DM dataset have errors of 55 to 66 at two hours. My virtual patients are also a little steadier than real ones, there are no lows in the cohort, so Prahari does not predict hypoglycaemia yet, and the uncertainty band is slightly too narrow. Next, I would validate on real CGM data, add low-glucose risk for insulin users, estimate carbs from meal photos so logging takes one tap, and run a 12-week pilot with a clinic.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Prahari gives every patient a twin, gives early warning of most spikes, explains every warning, and suggests an action the twin has already simulated. The code, data, models and results are all in the public GitHub repository under an MIT licence, and you can rebuild everything with one command.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4"/>
        </a:solidFill>
      </p:bgPr>
    </p:bg>
    <p:spTree>
      <p:nvGrpSpPr>
        <p:cNvPr id="1" name=""/>
        <p:cNvGrpSpPr/>
        <p:nvPr/>
      </p:nvGrpSpPr>
      <p:grpSpPr>
        <a:xfrm>
          <a:off x="0" y="0"/>
          <a:ext cx="0" cy="0"/>
          <a:chOff x="0" y="0"/>
          <a:chExt cx="0" cy="0"/>
        </a:xfrm>
      </p:grpSpPr>
      <p:sp>
        <p:nvSpPr>
          <p:cNvPr id="2" name="Text 0"/>
          <p:cNvSpPr txBox="1"/>
          <p:nvPr/>
        </p:nvSpPr>
        <p:spPr>
          <a:xfrm>
            <a:off x="731520" y="1097280"/>
            <a:ext cx="10058400" cy="320040"/>
          </a:xfrm>
          <a:prstGeom prst="rect">
            <a:avLst/>
          </a:prstGeom>
          <a:noFill/>
          <a:ln/>
        </p:spPr>
        <p:txBody>
          <a:bodyPr wrap="square" lIns="0" tIns="0" rIns="0" bIns="0" rtlCol="0" anchor="t"/>
          <a:lstStyle/>
          <a:p>
            <a:pPr indent="0" marL="0">
              <a:buNone/>
            </a:pPr>
            <a:r>
              <a:rPr lang="en-US" sz="1300" b="1" spc="200" kern="0" dirty="0">
                <a:solidFill>
                  <a:srgbClr val="5EEAD4"/>
                </a:solidFill>
                <a:latin typeface="Calibri" pitchFamily="34" charset="0"/>
                <a:ea typeface="Calibri" pitchFamily="34" charset="-122"/>
                <a:cs typeface="Calibri" pitchFamily="34" charset="-120"/>
              </a:rPr>
              <a:t>DIGITAL TWIN CHALLENGE 2026 · TYPE 2 DIABETES</a:t>
            </a:r>
            <a:endParaRPr lang="en-US" sz="1300" dirty="0"/>
          </a:p>
        </p:txBody>
      </p:sp>
      <p:sp>
        <p:nvSpPr>
          <p:cNvPr id="3" name="Text 1"/>
          <p:cNvSpPr txBox="1"/>
          <p:nvPr/>
        </p:nvSpPr>
        <p:spPr>
          <a:xfrm>
            <a:off x="731520" y="1600200"/>
            <a:ext cx="10058400" cy="109728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Prahari</a:t>
            </a:r>
            <a:endParaRPr lang="en-US" sz="6000" dirty="0"/>
          </a:p>
        </p:txBody>
      </p:sp>
      <p:sp>
        <p:nvSpPr>
          <p:cNvPr id="4" name="Text 2"/>
          <p:cNvSpPr txBox="1"/>
          <p:nvPr/>
        </p:nvSpPr>
        <p:spPr>
          <a:xfrm>
            <a:off x="731520" y="2788920"/>
            <a:ext cx="9601200" cy="1097280"/>
          </a:xfrm>
          <a:prstGeom prst="rect">
            <a:avLst/>
          </a:prstGeom>
          <a:noFill/>
          <a:ln/>
        </p:spPr>
        <p:txBody>
          <a:bodyPr wrap="square" lIns="0" tIns="0" rIns="0" bIns="0" rtlCol="0" anchor="t"/>
          <a:lstStyle/>
          <a:p>
            <a:pPr indent="0" marL="0">
              <a:buNone/>
            </a:pPr>
            <a:r>
              <a:rPr lang="en-US" sz="2200" dirty="0">
                <a:solidFill>
                  <a:srgbClr val="C9D6E2"/>
                </a:solidFill>
                <a:latin typeface="Calibri" pitchFamily="34" charset="0"/>
                <a:ea typeface="Calibri" pitchFamily="34" charset="-122"/>
                <a:cs typeface="Calibri" pitchFamily="34" charset="-120"/>
              </a:rPr>
              <a:t>A digital twin that warns of a glucose spike up to two hours before it happens, explains why, and simulates what would prevent it</a:t>
            </a:r>
            <a:endParaRPr lang="en-US" sz="2200" dirty="0"/>
          </a:p>
        </p:txBody>
      </p:sp>
      <p:sp>
        <p:nvSpPr>
          <p:cNvPr id="5" name="Text 3"/>
          <p:cNvSpPr txBox="1"/>
          <p:nvPr/>
        </p:nvSpPr>
        <p:spPr>
          <a:xfrm>
            <a:off x="731520" y="4846320"/>
            <a:ext cx="10058400" cy="36576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Team Songer · Siddharth Yadav · IIM Visakhapatnam</a:t>
            </a:r>
            <a:endParaRPr lang="en-US" sz="1600" dirty="0"/>
          </a:p>
        </p:txBody>
      </p:sp>
      <p:sp>
        <p:nvSpPr>
          <p:cNvPr id="6" name="Text 4"/>
          <p:cNvSpPr txBox="1"/>
          <p:nvPr/>
        </p:nvSpPr>
        <p:spPr>
          <a:xfrm>
            <a:off x="731520" y="5257800"/>
            <a:ext cx="10058400" cy="365760"/>
          </a:xfrm>
          <a:prstGeom prst="rect">
            <a:avLst/>
          </a:prstGeom>
          <a:noFill/>
          <a:ln/>
        </p:spPr>
        <p:txBody>
          <a:bodyPr wrap="square" lIns="0" tIns="0" rIns="0" bIns="0" rtlCol="0" anchor="t"/>
          <a:lstStyle/>
          <a:p>
            <a:pPr indent="0" marL="0">
              <a:buNone/>
            </a:pPr>
            <a:r>
              <a:rPr lang="en-US" sz="1200" dirty="0">
                <a:solidFill>
                  <a:srgbClr val="9FB3C4"/>
                </a:solidFill>
                <a:latin typeface="Calibri" pitchFamily="34" charset="0"/>
                <a:ea typeface="Calibri" pitchFamily="34" charset="-122"/>
                <a:cs typeface="Calibri" pitchFamily="34" charset="-120"/>
              </a:rPr>
              <a:t>All patients are synthetic (Synthea EHR + simulated CGM and smartwatch). Research prototype, not a medical device.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India's diabetes problem is a timing problem: the spikes happen after meals, the doctor sees one number every three months</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737360"/>
            <a:ext cx="2651760" cy="2148840"/>
          </a:xfrm>
          <a:prstGeom prst="roundRect">
            <a:avLst>
              <a:gd name="adj" fmla="val 3404"/>
            </a:avLst>
          </a:prstGeom>
          <a:solidFill>
            <a:srgbClr val="E3F2EF"/>
          </a:solidFill>
          <a:ln w="6350">
            <a:solidFill>
              <a:srgbClr val="E3F2EF"/>
            </a:solidFill>
            <a:prstDash val="solid"/>
          </a:ln>
        </p:spPr>
      </p:sp>
      <p:sp>
        <p:nvSpPr>
          <p:cNvPr id="7" name="Text 5"/>
          <p:cNvSpPr txBox="1"/>
          <p:nvPr/>
        </p:nvSpPr>
        <p:spPr>
          <a:xfrm>
            <a:off x="749808" y="1901952"/>
            <a:ext cx="22860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101 M</a:t>
            </a:r>
            <a:endParaRPr lang="en-US" sz="3600" dirty="0"/>
          </a:p>
        </p:txBody>
      </p:sp>
      <p:sp>
        <p:nvSpPr>
          <p:cNvPr id="8" name="Text 6"/>
          <p:cNvSpPr txBox="1"/>
          <p:nvPr/>
        </p:nvSpPr>
        <p:spPr>
          <a:xfrm>
            <a:off x="749808" y="2615184"/>
            <a:ext cx="22860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adults in India with diabetes, plus 136 M with prediabetes (ICMR-INDIAB, 2023)</a:t>
            </a:r>
            <a:endParaRPr lang="en-US" sz="1300" dirty="0"/>
          </a:p>
        </p:txBody>
      </p:sp>
      <p:sp>
        <p:nvSpPr>
          <p:cNvPr id="9" name="Shape 7"/>
          <p:cNvSpPr/>
          <p:nvPr/>
        </p:nvSpPr>
        <p:spPr>
          <a:xfrm>
            <a:off x="3429000" y="1737360"/>
            <a:ext cx="2651760" cy="2148840"/>
          </a:xfrm>
          <a:prstGeom prst="roundRect">
            <a:avLst>
              <a:gd name="adj" fmla="val 3404"/>
            </a:avLst>
          </a:prstGeom>
          <a:solidFill>
            <a:srgbClr val="E3F2EF"/>
          </a:solidFill>
          <a:ln w="6350">
            <a:solidFill>
              <a:srgbClr val="E3F2EF"/>
            </a:solidFill>
            <a:prstDash val="solid"/>
          </a:ln>
        </p:spPr>
      </p:sp>
      <p:sp>
        <p:nvSpPr>
          <p:cNvPr id="10" name="Text 8"/>
          <p:cNvSpPr txBox="1"/>
          <p:nvPr/>
        </p:nvSpPr>
        <p:spPr>
          <a:xfrm>
            <a:off x="3630168" y="1901952"/>
            <a:ext cx="22860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43%</a:t>
            </a:r>
            <a:endParaRPr lang="en-US" sz="3600" dirty="0"/>
          </a:p>
        </p:txBody>
      </p:sp>
      <p:sp>
        <p:nvSpPr>
          <p:cNvPr id="11" name="Text 9"/>
          <p:cNvSpPr txBox="1"/>
          <p:nvPr/>
        </p:nvSpPr>
        <p:spPr>
          <a:xfrm>
            <a:off x="3630168" y="2615184"/>
            <a:ext cx="22860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of adults with diabetes in India are undiagnosed (IDF Diabetes Atlas, 11th ed.)</a:t>
            </a:r>
            <a:endParaRPr lang="en-US" sz="1300" dirty="0"/>
          </a:p>
        </p:txBody>
      </p:sp>
      <p:sp>
        <p:nvSpPr>
          <p:cNvPr id="12" name="Shape 10"/>
          <p:cNvSpPr/>
          <p:nvPr/>
        </p:nvSpPr>
        <p:spPr>
          <a:xfrm>
            <a:off x="6309360" y="1737360"/>
            <a:ext cx="2651760" cy="2148840"/>
          </a:xfrm>
          <a:prstGeom prst="roundRect">
            <a:avLst>
              <a:gd name="adj" fmla="val 3404"/>
            </a:avLst>
          </a:prstGeom>
          <a:solidFill>
            <a:srgbClr val="E3F2EF"/>
          </a:solidFill>
          <a:ln w="6350">
            <a:solidFill>
              <a:srgbClr val="E3F2EF"/>
            </a:solidFill>
            <a:prstDash val="solid"/>
          </a:ln>
        </p:spPr>
      </p:sp>
      <p:sp>
        <p:nvSpPr>
          <p:cNvPr id="13" name="Text 11"/>
          <p:cNvSpPr txBox="1"/>
          <p:nvPr/>
        </p:nvSpPr>
        <p:spPr>
          <a:xfrm>
            <a:off x="6510528" y="1901952"/>
            <a:ext cx="22860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62%</a:t>
            </a:r>
            <a:endParaRPr lang="en-US" sz="3600" dirty="0"/>
          </a:p>
        </p:txBody>
      </p:sp>
      <p:sp>
        <p:nvSpPr>
          <p:cNvPr id="14" name="Text 12"/>
          <p:cNvSpPr txBox="1"/>
          <p:nvPr/>
        </p:nvSpPr>
        <p:spPr>
          <a:xfrm>
            <a:off x="6510528" y="2615184"/>
            <a:ext cx="22860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of daily energy in Indian diets comes from carbohydrate (Anjana et al., 2025)</a:t>
            </a:r>
            <a:endParaRPr lang="en-US" sz="1300" dirty="0"/>
          </a:p>
        </p:txBody>
      </p:sp>
      <p:sp>
        <p:nvSpPr>
          <p:cNvPr id="15" name="Shape 13"/>
          <p:cNvSpPr/>
          <p:nvPr/>
        </p:nvSpPr>
        <p:spPr>
          <a:xfrm>
            <a:off x="9189720" y="1737360"/>
            <a:ext cx="2651760" cy="2148840"/>
          </a:xfrm>
          <a:prstGeom prst="roundRect">
            <a:avLst>
              <a:gd name="adj" fmla="val 3404"/>
            </a:avLst>
          </a:prstGeom>
          <a:solidFill>
            <a:srgbClr val="FDF1E1"/>
          </a:solidFill>
          <a:ln w="6350">
            <a:solidFill>
              <a:srgbClr val="FDF1E1"/>
            </a:solidFill>
            <a:prstDash val="solid"/>
          </a:ln>
        </p:spPr>
      </p:sp>
      <p:sp>
        <p:nvSpPr>
          <p:cNvPr id="16" name="Text 14"/>
          <p:cNvSpPr txBox="1"/>
          <p:nvPr/>
        </p:nvSpPr>
        <p:spPr>
          <a:xfrm>
            <a:off x="9390888" y="1901952"/>
            <a:ext cx="2286000" cy="685800"/>
          </a:xfrm>
          <a:prstGeom prst="rect">
            <a:avLst/>
          </a:prstGeom>
          <a:noFill/>
          <a:ln/>
        </p:spPr>
        <p:txBody>
          <a:bodyPr wrap="square" lIns="0" tIns="0" rIns="0" bIns="0" rtlCol="0" anchor="t"/>
          <a:lstStyle/>
          <a:p>
            <a:pPr indent="0" marL="0">
              <a:buNone/>
            </a:pPr>
            <a:r>
              <a:rPr lang="en-US" sz="3600" b="1" dirty="0">
                <a:solidFill>
                  <a:srgbClr val="B45309"/>
                </a:solidFill>
                <a:latin typeface="Cambria" pitchFamily="34" charset="0"/>
                <a:ea typeface="Cambria" pitchFamily="34" charset="-122"/>
                <a:cs typeface="Cambria" pitchFamily="34" charset="-120"/>
              </a:rPr>
              <a:t>1 number</a:t>
            </a:r>
            <a:endParaRPr lang="en-US" sz="3600" dirty="0"/>
          </a:p>
        </p:txBody>
      </p:sp>
      <p:sp>
        <p:nvSpPr>
          <p:cNvPr id="17" name="Text 15"/>
          <p:cNvSpPr txBox="1"/>
          <p:nvPr/>
        </p:nvSpPr>
        <p:spPr>
          <a:xfrm>
            <a:off x="9390888" y="2615184"/>
            <a:ext cx="22860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HbA1c, every few months, is what most doctors see. It says nothing about when or why</a:t>
            </a:r>
            <a:endParaRPr lang="en-US" sz="1300" dirty="0"/>
          </a:p>
        </p:txBody>
      </p:sp>
      <p:sp>
        <p:nvSpPr>
          <p:cNvPr id="18" name="Text 16"/>
          <p:cNvSpPr txBox="1"/>
          <p:nvPr/>
        </p:nvSpPr>
        <p:spPr>
          <a:xfrm>
            <a:off x="548640" y="4206240"/>
            <a:ext cx="5486400" cy="365760"/>
          </a:xfrm>
          <a:prstGeom prst="rect">
            <a:avLst/>
          </a:prstGeom>
          <a:noFill/>
          <a:ln/>
        </p:spPr>
        <p:txBody>
          <a:bodyPr wrap="square" lIns="0" tIns="0" rIns="0" bIns="0" rtlCol="0" anchor="t"/>
          <a:lstStyle/>
          <a:p>
            <a:pPr indent="0" marL="0">
              <a:buNone/>
            </a:pPr>
            <a:r>
              <a:rPr lang="en-US" sz="1800" b="1" dirty="0">
                <a:solidFill>
                  <a:srgbClr val="13202B"/>
                </a:solidFill>
                <a:latin typeface="Cambria" pitchFamily="34" charset="0"/>
                <a:ea typeface="Cambria" pitchFamily="34" charset="-122"/>
                <a:cs typeface="Cambria" pitchFamily="34" charset="-120"/>
              </a:rPr>
              <a:t>What is missing</a:t>
            </a:r>
            <a:endParaRPr lang="en-US" sz="1800" dirty="0"/>
          </a:p>
        </p:txBody>
      </p:sp>
      <p:sp>
        <p:nvSpPr>
          <p:cNvPr id="19" name="Text 17"/>
          <p:cNvSpPr txBox="1"/>
          <p:nvPr/>
        </p:nvSpPr>
        <p:spPr>
          <a:xfrm>
            <a:off x="548640" y="4617720"/>
            <a:ext cx="11064240" cy="16459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CGMs and smartwatches now record every 5 minutes, but the data sits in separate apps, away from the medical record</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No one turns it into a warning early enough to act: a walk, a smaller portion, a call from the doctor</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Doctors have no way to test "what if she walked after lunch?" for one specific patient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IDEA</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Prahari gives the doctor four things today's care cannot: a warning, a reason, a personal model and a what-if</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737360"/>
            <a:ext cx="5440680" cy="2011680"/>
          </a:xfrm>
          <a:prstGeom prst="roundRect">
            <a:avLst>
              <a:gd name="adj" fmla="val 3636"/>
            </a:avLst>
          </a:prstGeom>
          <a:solidFill>
            <a:srgbClr val="E3F2EF"/>
          </a:solidFill>
          <a:ln w="6350">
            <a:solidFill>
              <a:srgbClr val="E3F2EF"/>
            </a:solidFill>
            <a:prstDash val="solid"/>
          </a:ln>
        </p:spPr>
      </p:sp>
      <p:sp>
        <p:nvSpPr>
          <p:cNvPr id="7" name="Text 5"/>
          <p:cNvSpPr txBox="1"/>
          <p:nvPr/>
        </p:nvSpPr>
        <p:spPr>
          <a:xfrm>
            <a:off x="822960" y="1965960"/>
            <a:ext cx="4846320" cy="457200"/>
          </a:xfrm>
          <a:prstGeom prst="rect">
            <a:avLst/>
          </a:prstGeom>
          <a:noFill/>
          <a:ln/>
        </p:spPr>
        <p:txBody>
          <a:bodyPr wrap="square" lIns="0" tIns="0" rIns="0" bIns="0" rtlCol="0" anchor="t"/>
          <a:lstStyle/>
          <a:p>
            <a:pPr indent="0" marL="0">
              <a:buNone/>
            </a:pPr>
            <a:r>
              <a:rPr lang="en-US" sz="2200" b="1" dirty="0">
                <a:solidFill>
                  <a:srgbClr val="0F766E"/>
                </a:solidFill>
                <a:latin typeface="Cambria" pitchFamily="34" charset="0"/>
                <a:ea typeface="Cambria" pitchFamily="34" charset="-122"/>
                <a:cs typeface="Cambria" pitchFamily="34" charset="-120"/>
              </a:rPr>
              <a:t>Warn</a:t>
            </a:r>
            <a:endParaRPr lang="en-US" sz="2200" dirty="0"/>
          </a:p>
        </p:txBody>
      </p:sp>
      <p:sp>
        <p:nvSpPr>
          <p:cNvPr id="8" name="Text 6"/>
          <p:cNvSpPr txBox="1"/>
          <p:nvPr/>
        </p:nvSpPr>
        <p:spPr>
          <a:xfrm>
            <a:off x="822960" y="2514600"/>
            <a:ext cx="4937760" cy="1097280"/>
          </a:xfrm>
          <a:prstGeom prst="rect">
            <a:avLst/>
          </a:prstGeom>
          <a:noFill/>
          <a:ln/>
        </p:spPr>
        <p:txBody>
          <a:bodyPr wrap="square" lIns="0" tIns="0" rIns="0" bIns="0" rtlCol="0" anchor="t"/>
          <a:lstStyle/>
          <a:p>
            <a:pPr indent="0" marL="0">
              <a:buNone/>
            </a:pPr>
            <a:r>
              <a:rPr lang="en-US" sz="1500" dirty="0">
                <a:solidFill>
                  <a:srgbClr val="13202B"/>
                </a:solidFill>
                <a:latin typeface="Calibri" pitchFamily="34" charset="0"/>
                <a:ea typeface="Calibri" pitchFamily="34" charset="-122"/>
                <a:cs typeface="Calibri" pitchFamily="34" charset="-120"/>
              </a:rPr>
              <a:t>Probability of a spike above 180 and above 250 mg/dL in the next 2 hours, every 15 minutes, with a 2-hour forecast and an 80% band</a:t>
            </a:r>
            <a:endParaRPr lang="en-US" sz="1500" dirty="0"/>
          </a:p>
        </p:txBody>
      </p:sp>
      <p:sp>
        <p:nvSpPr>
          <p:cNvPr id="9" name="Shape 7"/>
          <p:cNvSpPr/>
          <p:nvPr/>
        </p:nvSpPr>
        <p:spPr>
          <a:xfrm>
            <a:off x="6172200" y="1737360"/>
            <a:ext cx="5440680" cy="2011680"/>
          </a:xfrm>
          <a:prstGeom prst="roundRect">
            <a:avLst>
              <a:gd name="adj" fmla="val 3636"/>
            </a:avLst>
          </a:prstGeom>
          <a:solidFill>
            <a:srgbClr val="E8EEF7"/>
          </a:solidFill>
          <a:ln w="6350">
            <a:solidFill>
              <a:srgbClr val="E8EEF7"/>
            </a:solidFill>
            <a:prstDash val="solid"/>
          </a:ln>
        </p:spPr>
      </p:sp>
      <p:sp>
        <p:nvSpPr>
          <p:cNvPr id="10" name="Text 8"/>
          <p:cNvSpPr txBox="1"/>
          <p:nvPr/>
        </p:nvSpPr>
        <p:spPr>
          <a:xfrm>
            <a:off x="6446520" y="1965960"/>
            <a:ext cx="4846320" cy="457200"/>
          </a:xfrm>
          <a:prstGeom prst="rect">
            <a:avLst/>
          </a:prstGeom>
          <a:noFill/>
          <a:ln/>
        </p:spPr>
        <p:txBody>
          <a:bodyPr wrap="square" lIns="0" tIns="0" rIns="0" bIns="0" rtlCol="0" anchor="t"/>
          <a:lstStyle/>
          <a:p>
            <a:pPr indent="0" marL="0">
              <a:buNone/>
            </a:pPr>
            <a:r>
              <a:rPr lang="en-US" sz="2200" b="1" dirty="0">
                <a:solidFill>
                  <a:srgbClr val="1F4E8C"/>
                </a:solidFill>
                <a:latin typeface="Cambria" pitchFamily="34" charset="0"/>
                <a:ea typeface="Cambria" pitchFamily="34" charset="-122"/>
                <a:cs typeface="Cambria" pitchFamily="34" charset="-120"/>
              </a:rPr>
              <a:t>Explain</a:t>
            </a:r>
            <a:endParaRPr lang="en-US" sz="2200" dirty="0"/>
          </a:p>
        </p:txBody>
      </p:sp>
      <p:sp>
        <p:nvSpPr>
          <p:cNvPr id="11" name="Text 9"/>
          <p:cNvSpPr txBox="1"/>
          <p:nvPr/>
        </p:nvSpPr>
        <p:spPr>
          <a:xfrm>
            <a:off x="6446520" y="2514600"/>
            <a:ext cx="4937760" cy="1097280"/>
          </a:xfrm>
          <a:prstGeom prst="rect">
            <a:avLst/>
          </a:prstGeom>
          <a:noFill/>
          <a:ln/>
        </p:spPr>
        <p:txBody>
          <a:bodyPr wrap="square" lIns="0" tIns="0" rIns="0" bIns="0" rtlCol="0" anchor="t"/>
          <a:lstStyle/>
          <a:p>
            <a:pPr indent="0" marL="0">
              <a:buNone/>
            </a:pPr>
            <a:r>
              <a:rPr lang="en-US" sz="1500" dirty="0">
                <a:solidFill>
                  <a:srgbClr val="13202B"/>
                </a:solidFill>
                <a:latin typeface="Calibri" pitchFamily="34" charset="0"/>
                <a:ea typeface="Calibri" pitchFamily="34" charset="-122"/>
                <a:cs typeface="Calibri" pitchFamily="34" charset="-120"/>
              </a:rPr>
              <a:t>The top three reasons behind each alert in plain words (SHAP): the meal just logged, the twin's predicted peak, a short night</a:t>
            </a:r>
            <a:endParaRPr lang="en-US" sz="1500" dirty="0"/>
          </a:p>
        </p:txBody>
      </p:sp>
      <p:sp>
        <p:nvSpPr>
          <p:cNvPr id="12" name="Shape 10"/>
          <p:cNvSpPr/>
          <p:nvPr/>
        </p:nvSpPr>
        <p:spPr>
          <a:xfrm>
            <a:off x="548640" y="3977640"/>
            <a:ext cx="5440680" cy="2011680"/>
          </a:xfrm>
          <a:prstGeom prst="roundRect">
            <a:avLst>
              <a:gd name="adj" fmla="val 3636"/>
            </a:avLst>
          </a:prstGeom>
          <a:solidFill>
            <a:srgbClr val="E3F2EF"/>
          </a:solidFill>
          <a:ln w="6350">
            <a:solidFill>
              <a:srgbClr val="E3F2EF"/>
            </a:solidFill>
            <a:prstDash val="solid"/>
          </a:ln>
        </p:spPr>
      </p:sp>
      <p:sp>
        <p:nvSpPr>
          <p:cNvPr id="13" name="Text 11"/>
          <p:cNvSpPr txBox="1"/>
          <p:nvPr/>
        </p:nvSpPr>
        <p:spPr>
          <a:xfrm>
            <a:off x="822960" y="4206240"/>
            <a:ext cx="4846320" cy="457200"/>
          </a:xfrm>
          <a:prstGeom prst="rect">
            <a:avLst/>
          </a:prstGeom>
          <a:noFill/>
          <a:ln/>
        </p:spPr>
        <p:txBody>
          <a:bodyPr wrap="square" lIns="0" tIns="0" rIns="0" bIns="0" rtlCol="0" anchor="t"/>
          <a:lstStyle/>
          <a:p>
            <a:pPr indent="0" marL="0">
              <a:buNone/>
            </a:pPr>
            <a:r>
              <a:rPr lang="en-US" sz="2200" b="1" dirty="0">
                <a:solidFill>
                  <a:srgbClr val="0F766E"/>
                </a:solidFill>
                <a:latin typeface="Cambria" pitchFamily="34" charset="0"/>
                <a:ea typeface="Cambria" pitchFamily="34" charset="-122"/>
                <a:cs typeface="Cambria" pitchFamily="34" charset="-120"/>
              </a:rPr>
              <a:t>Personalise</a:t>
            </a:r>
            <a:endParaRPr lang="en-US" sz="2200" dirty="0"/>
          </a:p>
        </p:txBody>
      </p:sp>
      <p:sp>
        <p:nvSpPr>
          <p:cNvPr id="14" name="Text 12"/>
          <p:cNvSpPr txBox="1"/>
          <p:nvPr/>
        </p:nvSpPr>
        <p:spPr>
          <a:xfrm>
            <a:off x="822960" y="4754880"/>
            <a:ext cx="4937760" cy="1097280"/>
          </a:xfrm>
          <a:prstGeom prst="rect">
            <a:avLst/>
          </a:prstGeom>
          <a:noFill/>
          <a:ln/>
        </p:spPr>
        <p:txBody>
          <a:bodyPr wrap="square" lIns="0" tIns="0" rIns="0" bIns="0" rtlCol="0" anchor="t"/>
          <a:lstStyle/>
          <a:p>
            <a:pPr indent="0" marL="0">
              <a:buNone/>
            </a:pPr>
            <a:r>
              <a:rPr lang="en-US" sz="1500" dirty="0">
                <a:solidFill>
                  <a:srgbClr val="13202B"/>
                </a:solidFill>
                <a:latin typeface="Calibri" pitchFamily="34" charset="0"/>
                <a:ea typeface="Calibri" pitchFamily="34" charset="-122"/>
                <a:cs typeface="Calibri" pitchFamily="34" charset="-120"/>
              </a:rPr>
              <a:t>A twin per patient: insulin sensitivity, fasting level, meal response, absorption speed, dawn effect, re-fitted every night</a:t>
            </a:r>
            <a:endParaRPr lang="en-US" sz="1500" dirty="0"/>
          </a:p>
        </p:txBody>
      </p:sp>
      <p:sp>
        <p:nvSpPr>
          <p:cNvPr id="15" name="Shape 13"/>
          <p:cNvSpPr/>
          <p:nvPr/>
        </p:nvSpPr>
        <p:spPr>
          <a:xfrm>
            <a:off x="6172200" y="3977640"/>
            <a:ext cx="5440680" cy="2011680"/>
          </a:xfrm>
          <a:prstGeom prst="roundRect">
            <a:avLst>
              <a:gd name="adj" fmla="val 3636"/>
            </a:avLst>
          </a:prstGeom>
          <a:solidFill>
            <a:srgbClr val="FDF1E1"/>
          </a:solidFill>
          <a:ln w="6350">
            <a:solidFill>
              <a:srgbClr val="FDF1E1"/>
            </a:solidFill>
            <a:prstDash val="solid"/>
          </a:ln>
        </p:spPr>
      </p:sp>
      <p:sp>
        <p:nvSpPr>
          <p:cNvPr id="16" name="Text 14"/>
          <p:cNvSpPr txBox="1"/>
          <p:nvPr/>
        </p:nvSpPr>
        <p:spPr>
          <a:xfrm>
            <a:off x="6446520" y="4206240"/>
            <a:ext cx="4846320" cy="457200"/>
          </a:xfrm>
          <a:prstGeom prst="rect">
            <a:avLst/>
          </a:prstGeom>
          <a:noFill/>
          <a:ln/>
        </p:spPr>
        <p:txBody>
          <a:bodyPr wrap="square" lIns="0" tIns="0" rIns="0" bIns="0" rtlCol="0" anchor="t"/>
          <a:lstStyle/>
          <a:p>
            <a:pPr indent="0" marL="0">
              <a:buNone/>
            </a:pPr>
            <a:r>
              <a:rPr lang="en-US" sz="2200" b="1" dirty="0">
                <a:solidFill>
                  <a:srgbClr val="B45309"/>
                </a:solidFill>
                <a:latin typeface="Cambria" pitchFamily="34" charset="0"/>
                <a:ea typeface="Cambria" pitchFamily="34" charset="-122"/>
                <a:cs typeface="Cambria" pitchFamily="34" charset="-120"/>
              </a:rPr>
              <a:t>Act</a:t>
            </a:r>
            <a:endParaRPr lang="en-US" sz="2200" dirty="0"/>
          </a:p>
        </p:txBody>
      </p:sp>
      <p:sp>
        <p:nvSpPr>
          <p:cNvPr id="17" name="Text 15"/>
          <p:cNvSpPr txBox="1"/>
          <p:nvPr/>
        </p:nvSpPr>
        <p:spPr>
          <a:xfrm>
            <a:off x="6446520" y="4754880"/>
            <a:ext cx="4937760" cy="1097280"/>
          </a:xfrm>
          <a:prstGeom prst="rect">
            <a:avLst/>
          </a:prstGeom>
          <a:noFill/>
          <a:ln/>
        </p:spPr>
        <p:txBody>
          <a:bodyPr wrap="square" lIns="0" tIns="0" rIns="0" bIns="0" rtlCol="0" anchor="t"/>
          <a:lstStyle/>
          <a:p>
            <a:pPr indent="0" marL="0">
              <a:buNone/>
            </a:pPr>
            <a:r>
              <a:rPr lang="en-US" sz="1500" dirty="0">
                <a:solidFill>
                  <a:srgbClr val="13202B"/>
                </a:solidFill>
                <a:latin typeface="Calibri" pitchFamily="34" charset="0"/>
                <a:ea typeface="Calibri" pitchFamily="34" charset="-122"/>
                <a:cs typeface="Calibri" pitchFamily="34" charset="-120"/>
              </a:rPr>
              <a:t>What-if in the browser: walk 15 minutes, smaller portion, rice or chapati, a short night. At most one nudge per 2 hours for the patient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ARCHITECTURE</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Five layers: data in, ingest and protect, the digital twin, hybrid AI, and the clinic</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4</a:t>
            </a:r>
            <a:endParaRPr lang="en-US" sz="900" dirty="0"/>
          </a:p>
        </p:txBody>
      </p:sp>
      <p:pic>
        <p:nvPicPr>
          <p:cNvPr id="6" name="Image 0" descr="/home/claude/dt/repo/docs/img/architecture-1.png">    </p:cNvPr>
          <p:cNvPicPr>
            <a:picLocks noChangeAspect="1"/>
          </p:cNvPicPr>
          <p:nvPr/>
        </p:nvPicPr>
        <p:blipFill>
          <a:blip r:embed="rId1"/>
          <a:stretch>
            <a:fillRect/>
          </a:stretch>
        </p:blipFill>
        <p:spPr>
          <a:xfrm>
            <a:off x="1828114" y="1554480"/>
            <a:ext cx="8535467" cy="48006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DATA</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204 synthetic people lived 21 days of Indian routines, with a hidden physiology the twin never sees</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691640"/>
            <a:ext cx="3566160" cy="4526280"/>
          </a:xfrm>
          <a:prstGeom prst="roundRect">
            <a:avLst>
              <a:gd name="adj" fmla="val 2051"/>
            </a:avLst>
          </a:prstGeom>
          <a:solidFill>
            <a:srgbClr val="E8EEF7"/>
          </a:solidFill>
          <a:ln w="6350">
            <a:solidFill>
              <a:srgbClr val="E8EEF7"/>
            </a:solidFill>
            <a:prstDash val="solid"/>
          </a:ln>
        </p:spPr>
      </p:sp>
      <p:sp>
        <p:nvSpPr>
          <p:cNvPr id="7" name="Text 5"/>
          <p:cNvSpPr txBox="1"/>
          <p:nvPr/>
        </p:nvSpPr>
        <p:spPr>
          <a:xfrm>
            <a:off x="777240" y="1874520"/>
            <a:ext cx="320040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Static record (Synthea)</a:t>
            </a:r>
            <a:endParaRPr lang="en-US" sz="1700" dirty="0"/>
          </a:p>
        </p:txBody>
      </p:sp>
      <p:sp>
        <p:nvSpPr>
          <p:cNvPr id="8" name="Text 6"/>
          <p:cNvSpPr txBox="1"/>
          <p:nvPr/>
        </p:nvSpPr>
        <p:spPr>
          <a:xfrm>
            <a:off x="777240" y="2331720"/>
            <a:ext cx="3200400" cy="374904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94 with type 2 diabetes, 110 with prediabetes; 107 women</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Age, years since diagnosis, HbA1c, BMI, eGFR, BP, lipids</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Metformin, premixed insulin (18 users), comorbidities</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Synthetic family history and polygenic risk, labelled as synthetic</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HbA1c values that contradict the diagnosis are repaired and flagged</a:t>
            </a:r>
            <a:endParaRPr lang="en-US" sz="1450" dirty="0"/>
          </a:p>
        </p:txBody>
      </p:sp>
      <p:sp>
        <p:nvSpPr>
          <p:cNvPr id="9" name="Shape 7"/>
          <p:cNvSpPr/>
          <p:nvPr/>
        </p:nvSpPr>
        <p:spPr>
          <a:xfrm>
            <a:off x="4315968" y="1691640"/>
            <a:ext cx="3566160" cy="4526280"/>
          </a:xfrm>
          <a:prstGeom prst="roundRect">
            <a:avLst>
              <a:gd name="adj" fmla="val 2051"/>
            </a:avLst>
          </a:prstGeom>
          <a:solidFill>
            <a:srgbClr val="E3F2EF"/>
          </a:solidFill>
          <a:ln w="6350">
            <a:solidFill>
              <a:srgbClr val="E3F2EF"/>
            </a:solidFill>
            <a:prstDash val="solid"/>
          </a:ln>
        </p:spPr>
      </p:sp>
      <p:sp>
        <p:nvSpPr>
          <p:cNvPr id="10" name="Text 8"/>
          <p:cNvSpPr txBox="1"/>
          <p:nvPr/>
        </p:nvSpPr>
        <p:spPr>
          <a:xfrm>
            <a:off x="4544568" y="1874520"/>
            <a:ext cx="3200400" cy="365760"/>
          </a:xfrm>
          <a:prstGeom prst="rect">
            <a:avLst/>
          </a:prstGeom>
          <a:noFill/>
          <a:ln/>
        </p:spPr>
        <p:txBody>
          <a:bodyPr wrap="square" lIns="0" tIns="0" rIns="0" bIns="0" rtlCol="0" anchor="t"/>
          <a:lstStyle/>
          <a:p>
            <a:pPr indent="0" marL="0">
              <a:buNone/>
            </a:pPr>
            <a:r>
              <a:rPr lang="en-US" sz="1700" b="1" dirty="0">
                <a:solidFill>
                  <a:srgbClr val="0F766E"/>
                </a:solidFill>
                <a:latin typeface="Cambria" pitchFamily="34" charset="0"/>
                <a:ea typeface="Cambria" pitchFamily="34" charset="-122"/>
                <a:cs typeface="Cambria" pitchFamily="34" charset="-120"/>
              </a:rPr>
              <a:t>Daily life (simulated)</a:t>
            </a:r>
            <a:endParaRPr lang="en-US" sz="1700" dirty="0"/>
          </a:p>
        </p:txBody>
      </p:sp>
      <p:sp>
        <p:nvSpPr>
          <p:cNvPr id="11" name="Text 9"/>
          <p:cNvSpPr txBox="1"/>
          <p:nvPr/>
        </p:nvSpPr>
        <p:spPr>
          <a:xfrm>
            <a:off x="4544568" y="2331720"/>
            <a:ext cx="3200400" cy="374904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North or south Indian meals: rice, chapati, idli, dosa, poha, biryani, chai with sugar</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16,354 meals; 76% logged, with carb-counting error</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Walks, commutes, short nights, stressful work days</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Insulin before breakfast and dinner</a:t>
            </a:r>
            <a:endParaRPr lang="en-US" sz="1450" dirty="0"/>
          </a:p>
        </p:txBody>
      </p:sp>
      <p:sp>
        <p:nvSpPr>
          <p:cNvPr id="12" name="Shape 10"/>
          <p:cNvSpPr/>
          <p:nvPr/>
        </p:nvSpPr>
        <p:spPr>
          <a:xfrm>
            <a:off x="8083296" y="1691640"/>
            <a:ext cx="3566160" cy="4526280"/>
          </a:xfrm>
          <a:prstGeom prst="roundRect">
            <a:avLst>
              <a:gd name="adj" fmla="val 2051"/>
            </a:avLst>
          </a:prstGeom>
          <a:solidFill>
            <a:srgbClr val="FDF1E1"/>
          </a:solidFill>
          <a:ln w="6350">
            <a:solidFill>
              <a:srgbClr val="FDF1E1"/>
            </a:solidFill>
            <a:prstDash val="solid"/>
          </a:ln>
        </p:spPr>
      </p:sp>
      <p:sp>
        <p:nvSpPr>
          <p:cNvPr id="13" name="Text 11"/>
          <p:cNvSpPr txBox="1"/>
          <p:nvPr/>
        </p:nvSpPr>
        <p:spPr>
          <a:xfrm>
            <a:off x="8311896" y="1874520"/>
            <a:ext cx="3200400" cy="365760"/>
          </a:xfrm>
          <a:prstGeom prst="rect">
            <a:avLst/>
          </a:prstGeom>
          <a:noFill/>
          <a:ln/>
        </p:spPr>
        <p:txBody>
          <a:bodyPr wrap="square" lIns="0" tIns="0" rIns="0" bIns="0" rtlCol="0" anchor="t"/>
          <a:lstStyle/>
          <a:p>
            <a:pPr indent="0" marL="0">
              <a:buNone/>
            </a:pPr>
            <a:r>
              <a:rPr lang="en-US" sz="1700" b="1" dirty="0">
                <a:solidFill>
                  <a:srgbClr val="B45309"/>
                </a:solidFill>
                <a:latin typeface="Cambria" pitchFamily="34" charset="0"/>
                <a:ea typeface="Cambria" pitchFamily="34" charset="-122"/>
                <a:cs typeface="Cambria" pitchFamily="34" charset="-120"/>
              </a:rPr>
              <a:t>What the devices record</a:t>
            </a:r>
            <a:endParaRPr lang="en-US" sz="1700" dirty="0"/>
          </a:p>
        </p:txBody>
      </p:sp>
      <p:sp>
        <p:nvSpPr>
          <p:cNvPr id="14" name="Text 12"/>
          <p:cNvSpPr txBox="1"/>
          <p:nvPr/>
        </p:nvSpPr>
        <p:spPr>
          <a:xfrm>
            <a:off x="8311896" y="2331720"/>
            <a:ext cx="3200400" cy="3749040"/>
          </a:xfrm>
          <a:prstGeom prst="rect">
            <a:avLst/>
          </a:prstGeom>
          <a:noFill/>
          <a:ln/>
        </p:spPr>
        <p:txBody>
          <a:bodyPr wrap="square" lIns="0" tIns="0" rIns="0" bIns="0" rtlCol="0" anchor="t"/>
          <a:lstStyle/>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CGM every 5 minutes, sensor error 9.5% MARD, gaps, sensor change on day 11</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Watch: heart rate, HRV (RMSSD), steps, sleep stages</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1.23 million 5-minute time points</a:t>
            </a:r>
            <a:endParaRPr lang="en-US" sz="1450" dirty="0"/>
          </a:p>
          <a:p>
            <a:pPr marL="177800" indent="-177800">
              <a:spcAft>
                <a:spcPts val="600"/>
              </a:spcAft>
              <a:buSzPct val="100000"/>
              <a:buChar char="•"/>
            </a:pPr>
            <a:r>
              <a:rPr lang="en-US" sz="1450" dirty="0">
                <a:solidFill>
                  <a:srgbClr val="13202B"/>
                </a:solidFill>
                <a:latin typeface="Calibri" pitchFamily="34" charset="0"/>
                <a:ea typeface="Calibri" pitchFamily="34" charset="-122"/>
                <a:cs typeface="Calibri" pitchFamily="34" charset="-120"/>
              </a:rPr>
              <a:t>A richer hidden physiology produces the truth; the twin is simpler, so it must cope with mismatch</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IS THE SIMULATION REALISTIC?</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The virtual patients respond the way published studies say real patients do</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6</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766560" cy="914400"/>
        </p:xfrm>
        <a:graphic>
          <a:graphicData uri="http://schemas.openxmlformats.org/drawingml/2006/table">
            <a:tbl>
              <a:tblPr/>
              <a:tblGrid>
                <a:gridCol w="2011680"/>
                <a:gridCol w="1737360"/>
                <a:gridCol w="3017520"/>
              </a:tblGrid>
              <a:tr h="5029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Check</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Simulator</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0F766E"/>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Published</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0F766E"/>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15-min walk after a meal</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-16% post-meal glucose</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-12% overall, -22% after dinner (Reynolds 2016)</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One 4-hour night</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sensitivity -25%, +10% breakfast rise</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about -25% glucose infusion rate (Donga 2010)</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Dawn rise in T2D</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median 12 mg/dL</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median 16 mg/dL (Monnier 2013)</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Mean glucose vs HbA1c</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r = 0.96</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r = 0.92, eAG formula (Nathan 2008)</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Time in range vs HbA1c</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-18 points per 1%</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about -17 points per 1% (Beck 2019)</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FFFFF"/>
                    </a:solidFill>
                  </a:tcPr>
                </a:tc>
              </a:tr>
              <a:tr h="502920">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CGM error (MARD)</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9.5%</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c>
                  <a:txBody>
                    <a:bodyPr/>
                    <a:lstStyle/>
                    <a:p>
                      <a:pPr indent="0" marL="0">
                        <a:buNone/>
                      </a:pPr>
                      <a:r>
                        <a:rPr lang="en-US" sz="1250" dirty="0">
                          <a:solidFill>
                            <a:srgbClr val="13202B"/>
                          </a:solidFill>
                          <a:latin typeface="Calibri" pitchFamily="34" charset="0"/>
                          <a:ea typeface="Calibri" pitchFamily="34" charset="-122"/>
                          <a:cs typeface="Calibri" pitchFamily="34" charset="-120"/>
                        </a:rPr>
                        <a:t>8.2-9.1%, Dexcom G7 (Garg 2022)</a:t>
                      </a:r>
                      <a:endParaRPr lang="en-US" sz="1250" dirty="0">
                        <a:latin typeface="Calibri" charset="0"/>
                        <a:ea typeface="Calibri" charset="0"/>
                        <a:cs typeface="Calibri" charset="0"/>
                      </a:endParaRPr>
                    </a:p>
                  </a:txBody>
                  <a:tcPr marL="91440" marR="91440" marT="45720" marB="45720" anchor="ctr">
                    <a:lnL w="6350" cap="flat" cmpd="sng" algn="ctr">
                      <a:solidFill>
                        <a:srgbClr val="DDE2E8"/>
                      </a:solidFill>
                      <a:prstDash val="solid"/>
                      <a:round/>
                      <a:headEnd type="none" w="med" len="med"/>
                      <a:tailEnd type="none" w="med" len="med"/>
                    </a:lnL>
                    <a:lnR w="6350" cap="flat" cmpd="sng" algn="ctr">
                      <a:solidFill>
                        <a:srgbClr val="DDE2E8"/>
                      </a:solidFill>
                      <a:prstDash val="solid"/>
                      <a:round/>
                      <a:headEnd type="none" w="med" len="med"/>
                      <a:tailEnd type="none" w="med" len="med"/>
                    </a:lnR>
                    <a:lnT w="6350" cap="flat" cmpd="sng" algn="ctr">
                      <a:solidFill>
                        <a:srgbClr val="DDE2E8"/>
                      </a:solidFill>
                      <a:prstDash val="solid"/>
                      <a:round/>
                      <a:headEnd type="none" w="med" len="med"/>
                      <a:tailEnd type="none" w="med" len="med"/>
                    </a:lnT>
                    <a:lnB w="6350" cap="flat" cmpd="sng" algn="ctr">
                      <a:solidFill>
                        <a:srgbClr val="DDE2E8"/>
                      </a:solidFill>
                      <a:prstDash val="solid"/>
                      <a:round/>
                      <a:headEnd type="none" w="med" len="med"/>
                      <a:tailEnd type="none" w="med" len="med"/>
                    </a:lnB>
                    <a:solidFill>
                      <a:srgbClr val="F3F5F8"/>
                    </a:solidFill>
                  </a:tcPr>
                </a:tc>
              </a:tr>
            </a:tbl>
          </a:graphicData>
        </a:graphic>
      </p:graphicFrame>
      <p:pic>
        <p:nvPicPr>
          <p:cNvPr id="7" name="Image 0" descr="/home/claude/dt/repo/results/figures/sim_validation.png">    </p:cNvPr>
          <p:cNvPicPr>
            <a:picLocks noChangeAspect="1"/>
          </p:cNvPicPr>
          <p:nvPr/>
        </p:nvPicPr>
        <p:blipFill>
          <a:blip r:embed="rId1"/>
          <a:stretch>
            <a:fillRect/>
          </a:stretch>
        </p:blipFill>
        <p:spPr>
          <a:xfrm>
            <a:off x="7498080" y="1737360"/>
            <a:ext cx="4206240" cy="2329610"/>
          </a:xfrm>
          <a:prstGeom prst="rect">
            <a:avLst/>
          </a:prstGeom>
        </p:spPr>
      </p:pic>
      <p:sp>
        <p:nvSpPr>
          <p:cNvPr id="8" name="Text 4"/>
          <p:cNvSpPr txBox="1"/>
          <p:nvPr/>
        </p:nvSpPr>
        <p:spPr>
          <a:xfrm>
            <a:off x="7498080" y="4112690"/>
            <a:ext cx="4206240" cy="548640"/>
          </a:xfrm>
          <a:prstGeom prst="rect">
            <a:avLst/>
          </a:prstGeom>
          <a:noFill/>
          <a:ln/>
        </p:spPr>
        <p:txBody>
          <a:bodyPr wrap="square" lIns="0" tIns="0" rIns="0" bIns="0" rtlCol="0" anchor="t"/>
          <a:lstStyle/>
          <a:p>
            <a:pPr indent="0" marL="0">
              <a:buNone/>
            </a:pPr>
            <a:r>
              <a:rPr lang="en-US" sz="1200" dirty="0">
                <a:solidFill>
                  <a:srgbClr val="4A5565"/>
                </a:solidFill>
                <a:latin typeface="Calibri" pitchFamily="34" charset="0"/>
                <a:ea typeface="Calibri" pitchFamily="34" charset="-122"/>
                <a:cs typeface="Calibri" pitchFamily="34" charset="-120"/>
              </a:rPr>
              <a:t>Same lunch, three days: usual, with a 15-minute walk, and after a 4-hour night.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THE DIGITAL TWIN</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The twin is a living model: built from the record, fitted in week one, synced every 5 minutes, re-fitted every night</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691640"/>
            <a:ext cx="4846320" cy="960120"/>
          </a:xfrm>
          <a:prstGeom prst="roundRect">
            <a:avLst>
              <a:gd name="adj" fmla="val 7619"/>
            </a:avLst>
          </a:prstGeom>
          <a:solidFill>
            <a:srgbClr val="E3F2EF"/>
          </a:solidFill>
          <a:ln w="6350">
            <a:solidFill>
              <a:srgbClr val="E3F2EF"/>
            </a:solidFill>
            <a:prstDash val="solid"/>
          </a:ln>
        </p:spPr>
      </p:sp>
      <p:sp>
        <p:nvSpPr>
          <p:cNvPr id="7" name="Text 5"/>
          <p:cNvSpPr txBox="1"/>
          <p:nvPr/>
        </p:nvSpPr>
        <p:spPr>
          <a:xfrm>
            <a:off x="777240" y="1801368"/>
            <a:ext cx="4480560" cy="32004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1  Prior</a:t>
            </a:r>
            <a:endParaRPr lang="en-US" sz="1600" dirty="0"/>
          </a:p>
        </p:txBody>
      </p:sp>
      <p:sp>
        <p:nvSpPr>
          <p:cNvPr id="8" name="Text 6"/>
          <p:cNvSpPr txBox="1"/>
          <p:nvPr/>
        </p:nvSpPr>
        <p:spPr>
          <a:xfrm>
            <a:off x="777240" y="2148840"/>
            <a:ext cx="4480560" cy="45720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HbA1c, BMI, diagnosis and medicines set starting values</a:t>
            </a:r>
            <a:endParaRPr lang="en-US" sz="1350" dirty="0"/>
          </a:p>
        </p:txBody>
      </p:sp>
      <p:sp>
        <p:nvSpPr>
          <p:cNvPr id="9" name="Shape 7"/>
          <p:cNvSpPr/>
          <p:nvPr/>
        </p:nvSpPr>
        <p:spPr>
          <a:xfrm>
            <a:off x="548640" y="2807208"/>
            <a:ext cx="4846320" cy="960120"/>
          </a:xfrm>
          <a:prstGeom prst="roundRect">
            <a:avLst>
              <a:gd name="adj" fmla="val 7619"/>
            </a:avLst>
          </a:prstGeom>
          <a:solidFill>
            <a:srgbClr val="F3F5F8"/>
          </a:solidFill>
          <a:ln w="6350">
            <a:solidFill>
              <a:srgbClr val="F3F5F8"/>
            </a:solidFill>
            <a:prstDash val="solid"/>
          </a:ln>
        </p:spPr>
      </p:sp>
      <p:sp>
        <p:nvSpPr>
          <p:cNvPr id="10" name="Text 8"/>
          <p:cNvSpPr txBox="1"/>
          <p:nvPr/>
        </p:nvSpPr>
        <p:spPr>
          <a:xfrm>
            <a:off x="777240" y="2916936"/>
            <a:ext cx="4480560" cy="32004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2  Onboard</a:t>
            </a:r>
            <a:endParaRPr lang="en-US" sz="1600" dirty="0"/>
          </a:p>
        </p:txBody>
      </p:sp>
      <p:sp>
        <p:nvSpPr>
          <p:cNvPr id="11" name="Text 9"/>
          <p:cNvSpPr txBox="1"/>
          <p:nvPr/>
        </p:nvSpPr>
        <p:spPr>
          <a:xfrm>
            <a:off x="777240" y="3264408"/>
            <a:ext cx="4480560" cy="45720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Days 1-7: five personal parameters fitted by MAP on its own forecasts</a:t>
            </a:r>
            <a:endParaRPr lang="en-US" sz="1350" dirty="0"/>
          </a:p>
        </p:txBody>
      </p:sp>
      <p:sp>
        <p:nvSpPr>
          <p:cNvPr id="12" name="Shape 10"/>
          <p:cNvSpPr/>
          <p:nvPr/>
        </p:nvSpPr>
        <p:spPr>
          <a:xfrm>
            <a:off x="548640" y="3922776"/>
            <a:ext cx="4846320" cy="960120"/>
          </a:xfrm>
          <a:prstGeom prst="roundRect">
            <a:avLst>
              <a:gd name="adj" fmla="val 7619"/>
            </a:avLst>
          </a:prstGeom>
          <a:solidFill>
            <a:srgbClr val="E3F2EF"/>
          </a:solidFill>
          <a:ln w="6350">
            <a:solidFill>
              <a:srgbClr val="E3F2EF"/>
            </a:solidFill>
            <a:prstDash val="solid"/>
          </a:ln>
        </p:spPr>
      </p:sp>
      <p:sp>
        <p:nvSpPr>
          <p:cNvPr id="13" name="Text 11"/>
          <p:cNvSpPr txBox="1"/>
          <p:nvPr/>
        </p:nvSpPr>
        <p:spPr>
          <a:xfrm>
            <a:off x="777240" y="4032504"/>
            <a:ext cx="4480560" cy="32004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3  Sync</a:t>
            </a:r>
            <a:endParaRPr lang="en-US" sz="1600" dirty="0"/>
          </a:p>
        </p:txBody>
      </p:sp>
      <p:sp>
        <p:nvSpPr>
          <p:cNvPr id="14" name="Text 12"/>
          <p:cNvSpPr txBox="1"/>
          <p:nvPr/>
        </p:nvSpPr>
        <p:spPr>
          <a:xfrm>
            <a:off x="777240" y="4379976"/>
            <a:ext cx="4480560" cy="45720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Each CGM reading corrects the state; estimates unlogged food</a:t>
            </a:r>
            <a:endParaRPr lang="en-US" sz="1350" dirty="0"/>
          </a:p>
        </p:txBody>
      </p:sp>
      <p:sp>
        <p:nvSpPr>
          <p:cNvPr id="15" name="Shape 13"/>
          <p:cNvSpPr/>
          <p:nvPr/>
        </p:nvSpPr>
        <p:spPr>
          <a:xfrm>
            <a:off x="548640" y="5038344"/>
            <a:ext cx="4846320" cy="960120"/>
          </a:xfrm>
          <a:prstGeom prst="roundRect">
            <a:avLst>
              <a:gd name="adj" fmla="val 7619"/>
            </a:avLst>
          </a:prstGeom>
          <a:solidFill>
            <a:srgbClr val="F3F5F8"/>
          </a:solidFill>
          <a:ln w="6350">
            <a:solidFill>
              <a:srgbClr val="F3F5F8"/>
            </a:solidFill>
            <a:prstDash val="solid"/>
          </a:ln>
        </p:spPr>
      </p:sp>
      <p:sp>
        <p:nvSpPr>
          <p:cNvPr id="16" name="Text 14"/>
          <p:cNvSpPr txBox="1"/>
          <p:nvPr/>
        </p:nvSpPr>
        <p:spPr>
          <a:xfrm>
            <a:off x="777240" y="5148072"/>
            <a:ext cx="4480560" cy="32004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4  Re-fit</a:t>
            </a:r>
            <a:endParaRPr lang="en-US" sz="1600" dirty="0"/>
          </a:p>
        </p:txBody>
      </p:sp>
      <p:sp>
        <p:nvSpPr>
          <p:cNvPr id="17" name="Text 15"/>
          <p:cNvSpPr txBox="1"/>
          <p:nvPr/>
        </p:nvSpPr>
        <p:spPr>
          <a:xfrm>
            <a:off x="777240" y="5495544"/>
            <a:ext cx="4480560" cy="457200"/>
          </a:xfrm>
          <a:prstGeom prst="rect">
            <a:avLst/>
          </a:prstGeom>
          <a:noFill/>
          <a:ln/>
        </p:spPr>
        <p:txBody>
          <a:bodyPr wrap="square" lIns="0" tIns="0" rIns="0" bIns="0" rtlCol="0" anchor="t"/>
          <a:lstStyle/>
          <a:p>
            <a:pPr indent="0" marL="0">
              <a:buNone/>
            </a:pPr>
            <a:r>
              <a:rPr lang="en-US" sz="1350" dirty="0">
                <a:solidFill>
                  <a:srgbClr val="13202B"/>
                </a:solidFill>
                <a:latin typeface="Calibri" pitchFamily="34" charset="0"/>
                <a:ea typeface="Calibri" pitchFamily="34" charset="-122"/>
                <a:cs typeface="Calibri" pitchFamily="34" charset="-120"/>
              </a:rPr>
              <a:t>Every midnight on the last 7 days; day d only uses data before d</a:t>
            </a:r>
            <a:endParaRPr lang="en-US" sz="1350" dirty="0"/>
          </a:p>
        </p:txBody>
      </p:sp>
      <p:pic>
        <p:nvPicPr>
          <p:cNvPr id="18" name="Image 0" descr="/home/claude/dt/repo/results/figures/twin_identifiability.png">    </p:cNvPr>
          <p:cNvPicPr>
            <a:picLocks noChangeAspect="1"/>
          </p:cNvPicPr>
          <p:nvPr/>
        </p:nvPicPr>
        <p:blipFill>
          <a:blip r:embed="rId1"/>
          <a:stretch>
            <a:fillRect/>
          </a:stretch>
        </p:blipFill>
        <p:spPr>
          <a:xfrm>
            <a:off x="5669280" y="1691640"/>
            <a:ext cx="6035040" cy="2698018"/>
          </a:xfrm>
          <a:prstGeom prst="rect">
            <a:avLst/>
          </a:prstGeom>
        </p:spPr>
      </p:pic>
      <p:sp>
        <p:nvSpPr>
          <p:cNvPr id="19" name="Text 16"/>
          <p:cNvSpPr txBox="1"/>
          <p:nvPr/>
        </p:nvSpPr>
        <p:spPr>
          <a:xfrm>
            <a:off x="5669280" y="4526818"/>
            <a:ext cx="5943600" cy="1371600"/>
          </a:xfrm>
          <a:prstGeom prst="rect">
            <a:avLst/>
          </a:prstGeom>
          <a:noFill/>
          <a:ln/>
        </p:spPr>
        <p:txBody>
          <a:bodyPr wrap="square" lIns="0" tIns="0" rIns="0" bIns="0" rtlCol="0" anchor="t"/>
          <a:lstStyle/>
          <a:p>
            <a:pPr indent="0" marL="0">
              <a:buNone/>
            </a:pPr>
            <a:r>
              <a:rPr lang="en-US" sz="1350" b="1" dirty="0">
                <a:solidFill>
                  <a:srgbClr val="0F766E"/>
                </a:solidFill>
                <a:latin typeface="Calibri" pitchFamily="34" charset="0"/>
                <a:ea typeface="Calibri" pitchFamily="34" charset="-122"/>
                <a:cs typeface="Calibri" pitchFamily="34" charset="-120"/>
              </a:rPr>
              <a:t>It recovers the hidden physiology. </a:t>
            </a:r>
            <a:pPr indent="0" marL="0">
              <a:buNone/>
            </a:pPr>
            <a:r>
              <a:rPr lang="en-US" sz="1350" dirty="0">
                <a:solidFill>
                  <a:srgbClr val="13202B"/>
                </a:solidFill>
                <a:latin typeface="Calibri" pitchFamily="34" charset="0"/>
                <a:ea typeface="Calibri" pitchFamily="34" charset="-122"/>
                <a:cs typeface="Calibri" pitchFamily="34" charset="-120"/>
              </a:rPr>
              <a:t>The record alone ranks insulin sensitivity poorly (Spearman 0.37 against the hidden truth). After week one the twin reaches 0.81, and 0.82 by day 21. Re-fitting nightly beats freezing it after week one: 60-min error 28.8 vs 30.5 mg/dL.</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HYBRID AI</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A hybrid model: the twin's physics plus machine learning on every data source, with no look-ahead</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691640"/>
            <a:ext cx="5577840" cy="932688"/>
          </a:xfrm>
          <a:prstGeom prst="roundRect">
            <a:avLst>
              <a:gd name="adj" fmla="val 7843"/>
            </a:avLst>
          </a:prstGeom>
          <a:solidFill>
            <a:srgbClr val="E8EEF7"/>
          </a:solidFill>
          <a:ln w="6350">
            <a:solidFill>
              <a:srgbClr val="E8EEF7"/>
            </a:solidFill>
            <a:prstDash val="solid"/>
          </a:ln>
        </p:spPr>
      </p:sp>
      <p:sp>
        <p:nvSpPr>
          <p:cNvPr id="7" name="Text 5"/>
          <p:cNvSpPr txBox="1"/>
          <p:nvPr/>
        </p:nvSpPr>
        <p:spPr>
          <a:xfrm>
            <a:off x="777240" y="1810512"/>
            <a:ext cx="146304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CGM</a:t>
            </a:r>
            <a:endParaRPr lang="en-US" sz="1700" dirty="0"/>
          </a:p>
        </p:txBody>
      </p:sp>
      <p:sp>
        <p:nvSpPr>
          <p:cNvPr id="8" name="Text 6"/>
          <p:cNvSpPr txBox="1"/>
          <p:nvPr/>
        </p:nvSpPr>
        <p:spPr>
          <a:xfrm>
            <a:off x="777240" y="2194560"/>
            <a:ext cx="1463040" cy="320040"/>
          </a:xfrm>
          <a:prstGeom prst="rect">
            <a:avLst/>
          </a:prstGeom>
          <a:noFill/>
          <a:ln/>
        </p:spPr>
        <p:txBody>
          <a:bodyPr wrap="square" lIns="0" tIns="0" rIns="0" bIns="0" rtlCol="0" anchor="t"/>
          <a:lstStyle/>
          <a:p>
            <a:pPr indent="0" marL="0">
              <a:buNone/>
            </a:pPr>
            <a:r>
              <a:rPr lang="en-US" sz="1200" dirty="0">
                <a:solidFill>
                  <a:srgbClr val="4A5565"/>
                </a:solidFill>
                <a:latin typeface="Calibri" pitchFamily="34" charset="0"/>
                <a:ea typeface="Calibri" pitchFamily="34" charset="-122"/>
                <a:cs typeface="Calibri" pitchFamily="34" charset="-120"/>
              </a:rPr>
              <a:t>25 features</a:t>
            </a:r>
            <a:endParaRPr lang="en-US" sz="1200" dirty="0"/>
          </a:p>
        </p:txBody>
      </p:sp>
      <p:sp>
        <p:nvSpPr>
          <p:cNvPr id="9" name="Text 7"/>
          <p:cNvSpPr txBox="1"/>
          <p:nvPr/>
        </p:nvSpPr>
        <p:spPr>
          <a:xfrm>
            <a:off x="2286000" y="1828800"/>
            <a:ext cx="3703320" cy="731520"/>
          </a:xfrm>
          <a:prstGeom prst="rect">
            <a:avLst/>
          </a:prstGeom>
          <a:noFill/>
          <a:ln/>
        </p:spPr>
        <p:txBody>
          <a:bodyPr wrap="square" lIns="0" tIns="0" rIns="0" bIns="0" rtlCol="0" anchor="t"/>
          <a:lstStyle/>
          <a:p>
            <a:pPr indent="0" marL="0">
              <a:buNone/>
            </a:pPr>
            <a:r>
              <a:rPr lang="en-US" sz="1300" dirty="0">
                <a:solidFill>
                  <a:srgbClr val="13202B"/>
                </a:solidFill>
                <a:latin typeface="Calibri" pitchFamily="34" charset="0"/>
                <a:ea typeface="Calibri" pitchFamily="34" charset="-122"/>
                <a:cs typeface="Calibri" pitchFamily="34" charset="-120"/>
              </a:rPr>
              <a:t>level, trends over 5-120 min, variability, gaps</a:t>
            </a:r>
            <a:endParaRPr lang="en-US" sz="1300" dirty="0"/>
          </a:p>
        </p:txBody>
      </p:sp>
      <p:sp>
        <p:nvSpPr>
          <p:cNvPr id="10" name="Shape 8"/>
          <p:cNvSpPr/>
          <p:nvPr/>
        </p:nvSpPr>
        <p:spPr>
          <a:xfrm>
            <a:off x="548640" y="2770632"/>
            <a:ext cx="5577840" cy="932688"/>
          </a:xfrm>
          <a:prstGeom prst="roundRect">
            <a:avLst>
              <a:gd name="adj" fmla="val 7843"/>
            </a:avLst>
          </a:prstGeom>
          <a:solidFill>
            <a:srgbClr val="E8EEF7"/>
          </a:solidFill>
          <a:ln w="6350">
            <a:solidFill>
              <a:srgbClr val="E8EEF7"/>
            </a:solidFill>
            <a:prstDash val="solid"/>
          </a:ln>
        </p:spPr>
      </p:sp>
      <p:sp>
        <p:nvSpPr>
          <p:cNvPr id="11" name="Text 9"/>
          <p:cNvSpPr txBox="1"/>
          <p:nvPr/>
        </p:nvSpPr>
        <p:spPr>
          <a:xfrm>
            <a:off x="777240" y="2889504"/>
            <a:ext cx="146304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Lifestyle</a:t>
            </a:r>
            <a:endParaRPr lang="en-US" sz="1700" dirty="0"/>
          </a:p>
        </p:txBody>
      </p:sp>
      <p:sp>
        <p:nvSpPr>
          <p:cNvPr id="12" name="Text 10"/>
          <p:cNvSpPr txBox="1"/>
          <p:nvPr/>
        </p:nvSpPr>
        <p:spPr>
          <a:xfrm>
            <a:off x="777240" y="3273552"/>
            <a:ext cx="1463040" cy="320040"/>
          </a:xfrm>
          <a:prstGeom prst="rect">
            <a:avLst/>
          </a:prstGeom>
          <a:noFill/>
          <a:ln/>
        </p:spPr>
        <p:txBody>
          <a:bodyPr wrap="square" lIns="0" tIns="0" rIns="0" bIns="0" rtlCol="0" anchor="t"/>
          <a:lstStyle/>
          <a:p>
            <a:pPr indent="0" marL="0">
              <a:buNone/>
            </a:pPr>
            <a:r>
              <a:rPr lang="en-US" sz="1200" dirty="0">
                <a:solidFill>
                  <a:srgbClr val="4A5565"/>
                </a:solidFill>
                <a:latin typeface="Calibri" pitchFamily="34" charset="0"/>
                <a:ea typeface="Calibri" pitchFamily="34" charset="-122"/>
                <a:cs typeface="Calibri" pitchFamily="34" charset="-120"/>
              </a:rPr>
              <a:t>27 features</a:t>
            </a:r>
            <a:endParaRPr lang="en-US" sz="1200" dirty="0"/>
          </a:p>
        </p:txBody>
      </p:sp>
      <p:sp>
        <p:nvSpPr>
          <p:cNvPr id="13" name="Text 11"/>
          <p:cNvSpPr txBox="1"/>
          <p:nvPr/>
        </p:nvSpPr>
        <p:spPr>
          <a:xfrm>
            <a:off x="2286000" y="2907792"/>
            <a:ext cx="3703320" cy="731520"/>
          </a:xfrm>
          <a:prstGeom prst="rect">
            <a:avLst/>
          </a:prstGeom>
          <a:noFill/>
          <a:ln/>
        </p:spPr>
        <p:txBody>
          <a:bodyPr wrap="square" lIns="0" tIns="0" rIns="0" bIns="0" rtlCol="0" anchor="t"/>
          <a:lstStyle/>
          <a:p>
            <a:pPr indent="0" marL="0">
              <a:buNone/>
            </a:pPr>
            <a:r>
              <a:rPr lang="en-US" sz="1300" dirty="0">
                <a:solidFill>
                  <a:srgbClr val="13202B"/>
                </a:solidFill>
                <a:latin typeface="Calibri" pitchFamily="34" charset="0"/>
                <a:ea typeface="Calibri" pitchFamily="34" charset="-122"/>
                <a:cs typeface="Calibri" pitchFamily="34" charset="-120"/>
              </a:rPr>
              <a:t>meals logged, habitual meal times from week 1, insulin, steps, heart rate, HRV vs own baseline, sleep</a:t>
            </a:r>
            <a:endParaRPr lang="en-US" sz="1300" dirty="0"/>
          </a:p>
        </p:txBody>
      </p:sp>
      <p:sp>
        <p:nvSpPr>
          <p:cNvPr id="14" name="Shape 12"/>
          <p:cNvSpPr/>
          <p:nvPr/>
        </p:nvSpPr>
        <p:spPr>
          <a:xfrm>
            <a:off x="548640" y="3849624"/>
            <a:ext cx="5577840" cy="932688"/>
          </a:xfrm>
          <a:prstGeom prst="roundRect">
            <a:avLst>
              <a:gd name="adj" fmla="val 7843"/>
            </a:avLst>
          </a:prstGeom>
          <a:solidFill>
            <a:srgbClr val="E8EEF7"/>
          </a:solidFill>
          <a:ln w="6350">
            <a:solidFill>
              <a:srgbClr val="E8EEF7"/>
            </a:solidFill>
            <a:prstDash val="solid"/>
          </a:ln>
        </p:spPr>
      </p:sp>
      <p:sp>
        <p:nvSpPr>
          <p:cNvPr id="15" name="Text 13"/>
          <p:cNvSpPr txBox="1"/>
          <p:nvPr/>
        </p:nvSpPr>
        <p:spPr>
          <a:xfrm>
            <a:off x="777240" y="3968496"/>
            <a:ext cx="1463040" cy="365760"/>
          </a:xfrm>
          <a:prstGeom prst="rect">
            <a:avLst/>
          </a:prstGeom>
          <a:noFill/>
          <a:ln/>
        </p:spPr>
        <p:txBody>
          <a:bodyPr wrap="square" lIns="0" tIns="0" rIns="0" bIns="0" rtlCol="0" anchor="t"/>
          <a:lstStyle/>
          <a:p>
            <a:pPr indent="0" marL="0">
              <a:buNone/>
            </a:pPr>
            <a:r>
              <a:rPr lang="en-US" sz="1700" b="1" dirty="0">
                <a:solidFill>
                  <a:srgbClr val="1F4E8C"/>
                </a:solidFill>
                <a:latin typeface="Cambria" pitchFamily="34" charset="0"/>
                <a:ea typeface="Cambria" pitchFamily="34" charset="-122"/>
                <a:cs typeface="Cambria" pitchFamily="34" charset="-120"/>
              </a:rPr>
              <a:t>EHR</a:t>
            </a:r>
            <a:endParaRPr lang="en-US" sz="1700" dirty="0"/>
          </a:p>
        </p:txBody>
      </p:sp>
      <p:sp>
        <p:nvSpPr>
          <p:cNvPr id="16" name="Text 14"/>
          <p:cNvSpPr txBox="1"/>
          <p:nvPr/>
        </p:nvSpPr>
        <p:spPr>
          <a:xfrm>
            <a:off x="777240" y="4352544"/>
            <a:ext cx="1463040" cy="320040"/>
          </a:xfrm>
          <a:prstGeom prst="rect">
            <a:avLst/>
          </a:prstGeom>
          <a:noFill/>
          <a:ln/>
        </p:spPr>
        <p:txBody>
          <a:bodyPr wrap="square" lIns="0" tIns="0" rIns="0" bIns="0" rtlCol="0" anchor="t"/>
          <a:lstStyle/>
          <a:p>
            <a:pPr indent="0" marL="0">
              <a:buNone/>
            </a:pPr>
            <a:r>
              <a:rPr lang="en-US" sz="1200" dirty="0">
                <a:solidFill>
                  <a:srgbClr val="4A5565"/>
                </a:solidFill>
                <a:latin typeface="Calibri" pitchFamily="34" charset="0"/>
                <a:ea typeface="Calibri" pitchFamily="34" charset="-122"/>
                <a:cs typeface="Calibri" pitchFamily="34" charset="-120"/>
              </a:rPr>
              <a:t>18 features</a:t>
            </a:r>
            <a:endParaRPr lang="en-US" sz="1200" dirty="0"/>
          </a:p>
        </p:txBody>
      </p:sp>
      <p:sp>
        <p:nvSpPr>
          <p:cNvPr id="17" name="Text 15"/>
          <p:cNvSpPr txBox="1"/>
          <p:nvPr/>
        </p:nvSpPr>
        <p:spPr>
          <a:xfrm>
            <a:off x="2286000" y="3986784"/>
            <a:ext cx="3703320" cy="731520"/>
          </a:xfrm>
          <a:prstGeom prst="rect">
            <a:avLst/>
          </a:prstGeom>
          <a:noFill/>
          <a:ln/>
        </p:spPr>
        <p:txBody>
          <a:bodyPr wrap="square" lIns="0" tIns="0" rIns="0" bIns="0" rtlCol="0" anchor="t"/>
          <a:lstStyle/>
          <a:p>
            <a:pPr indent="0" marL="0">
              <a:buNone/>
            </a:pPr>
            <a:r>
              <a:rPr lang="en-US" sz="1300" dirty="0">
                <a:solidFill>
                  <a:srgbClr val="13202B"/>
                </a:solidFill>
                <a:latin typeface="Calibri" pitchFamily="34" charset="0"/>
                <a:ea typeface="Calibri" pitchFamily="34" charset="-122"/>
                <a:cs typeface="Calibri" pitchFamily="34" charset="-120"/>
              </a:rPr>
              <a:t>age, HbA1c, BMI, eGFR, medicines, comorbidities, genetic risk</a:t>
            </a:r>
            <a:endParaRPr lang="en-US" sz="1300" dirty="0"/>
          </a:p>
        </p:txBody>
      </p:sp>
      <p:sp>
        <p:nvSpPr>
          <p:cNvPr id="18" name="Shape 16"/>
          <p:cNvSpPr/>
          <p:nvPr/>
        </p:nvSpPr>
        <p:spPr>
          <a:xfrm>
            <a:off x="548640" y="4928616"/>
            <a:ext cx="5577840" cy="932688"/>
          </a:xfrm>
          <a:prstGeom prst="roundRect">
            <a:avLst>
              <a:gd name="adj" fmla="val 7843"/>
            </a:avLst>
          </a:prstGeom>
          <a:solidFill>
            <a:srgbClr val="E3F2EF"/>
          </a:solidFill>
          <a:ln w="6350">
            <a:solidFill>
              <a:srgbClr val="E3F2EF"/>
            </a:solidFill>
            <a:prstDash val="solid"/>
          </a:ln>
        </p:spPr>
      </p:sp>
      <p:sp>
        <p:nvSpPr>
          <p:cNvPr id="19" name="Text 17"/>
          <p:cNvSpPr txBox="1"/>
          <p:nvPr/>
        </p:nvSpPr>
        <p:spPr>
          <a:xfrm>
            <a:off x="777240" y="5047488"/>
            <a:ext cx="1463040" cy="365760"/>
          </a:xfrm>
          <a:prstGeom prst="rect">
            <a:avLst/>
          </a:prstGeom>
          <a:noFill/>
          <a:ln/>
        </p:spPr>
        <p:txBody>
          <a:bodyPr wrap="square" lIns="0" tIns="0" rIns="0" bIns="0" rtlCol="0" anchor="t"/>
          <a:lstStyle/>
          <a:p>
            <a:pPr indent="0" marL="0">
              <a:buNone/>
            </a:pPr>
            <a:r>
              <a:rPr lang="en-US" sz="1700" b="1" dirty="0">
                <a:solidFill>
                  <a:srgbClr val="0F766E"/>
                </a:solidFill>
                <a:latin typeface="Cambria" pitchFamily="34" charset="0"/>
                <a:ea typeface="Cambria" pitchFamily="34" charset="-122"/>
                <a:cs typeface="Cambria" pitchFamily="34" charset="-120"/>
              </a:rPr>
              <a:t>Twin</a:t>
            </a:r>
            <a:endParaRPr lang="en-US" sz="1700" dirty="0"/>
          </a:p>
        </p:txBody>
      </p:sp>
      <p:sp>
        <p:nvSpPr>
          <p:cNvPr id="20" name="Text 18"/>
          <p:cNvSpPr txBox="1"/>
          <p:nvPr/>
        </p:nvSpPr>
        <p:spPr>
          <a:xfrm>
            <a:off x="777240" y="5431536"/>
            <a:ext cx="1463040" cy="320040"/>
          </a:xfrm>
          <a:prstGeom prst="rect">
            <a:avLst/>
          </a:prstGeom>
          <a:noFill/>
          <a:ln/>
        </p:spPr>
        <p:txBody>
          <a:bodyPr wrap="square" lIns="0" tIns="0" rIns="0" bIns="0" rtlCol="0" anchor="t"/>
          <a:lstStyle/>
          <a:p>
            <a:pPr indent="0" marL="0">
              <a:buNone/>
            </a:pPr>
            <a:r>
              <a:rPr lang="en-US" sz="1200" dirty="0">
                <a:solidFill>
                  <a:srgbClr val="4A5565"/>
                </a:solidFill>
                <a:latin typeface="Calibri" pitchFamily="34" charset="0"/>
                <a:ea typeface="Calibri" pitchFamily="34" charset="-122"/>
                <a:cs typeface="Calibri" pitchFamily="34" charset="-120"/>
              </a:rPr>
              <a:t>17 features</a:t>
            </a:r>
            <a:endParaRPr lang="en-US" sz="1200" dirty="0"/>
          </a:p>
        </p:txBody>
      </p:sp>
      <p:sp>
        <p:nvSpPr>
          <p:cNvPr id="21" name="Text 19"/>
          <p:cNvSpPr txBox="1"/>
          <p:nvPr/>
        </p:nvSpPr>
        <p:spPr>
          <a:xfrm>
            <a:off x="2286000" y="5065776"/>
            <a:ext cx="3703320" cy="731520"/>
          </a:xfrm>
          <a:prstGeom prst="rect">
            <a:avLst/>
          </a:prstGeom>
          <a:noFill/>
          <a:ln/>
        </p:spPr>
        <p:txBody>
          <a:bodyPr wrap="square" lIns="0" tIns="0" rIns="0" bIns="0" rtlCol="0" anchor="t"/>
          <a:lstStyle/>
          <a:p>
            <a:pPr indent="0" marL="0">
              <a:buNone/>
            </a:pPr>
            <a:r>
              <a:rPr lang="en-US" sz="1300" dirty="0">
                <a:solidFill>
                  <a:srgbClr val="13202B"/>
                </a:solidFill>
                <a:latin typeface="Calibri" pitchFamily="34" charset="0"/>
                <a:ea typeface="Calibri" pitchFamily="34" charset="-122"/>
                <a:cs typeface="Calibri" pitchFamily="34" charset="-120"/>
              </a:rPr>
              <a:t>its 30-120 min forecast, predicted peak and timing, personal parameters, unexplained glucose</a:t>
            </a:r>
            <a:endParaRPr lang="en-US" sz="1300" dirty="0"/>
          </a:p>
        </p:txBody>
      </p:sp>
      <p:sp>
        <p:nvSpPr>
          <p:cNvPr id="22" name="Text 20"/>
          <p:cNvSpPr txBox="1"/>
          <p:nvPr/>
        </p:nvSpPr>
        <p:spPr>
          <a:xfrm>
            <a:off x="6492240" y="1691640"/>
            <a:ext cx="5120640" cy="365760"/>
          </a:xfrm>
          <a:prstGeom prst="rect">
            <a:avLst/>
          </a:prstGeom>
          <a:noFill/>
          <a:ln/>
        </p:spPr>
        <p:txBody>
          <a:bodyPr wrap="square" lIns="0" tIns="0" rIns="0" bIns="0" rtlCol="0" anchor="t"/>
          <a:lstStyle/>
          <a:p>
            <a:pPr indent="0" marL="0">
              <a:buNone/>
            </a:pPr>
            <a:r>
              <a:rPr lang="en-US" sz="1800" b="1" dirty="0">
                <a:solidFill>
                  <a:srgbClr val="13202B"/>
                </a:solidFill>
                <a:latin typeface="Cambria" pitchFamily="34" charset="0"/>
                <a:ea typeface="Cambria" pitchFamily="34" charset="-122"/>
                <a:cs typeface="Cambria" pitchFamily="34" charset="-120"/>
              </a:rPr>
              <a:t>Models (LightGBM)</a:t>
            </a:r>
            <a:endParaRPr lang="en-US" sz="1800" dirty="0"/>
          </a:p>
        </p:txBody>
      </p:sp>
      <p:sp>
        <p:nvSpPr>
          <p:cNvPr id="23" name="Text 21"/>
          <p:cNvSpPr txBox="1"/>
          <p:nvPr/>
        </p:nvSpPr>
        <p:spPr>
          <a:xfrm>
            <a:off x="6492240" y="2148840"/>
            <a:ext cx="5120640" cy="23774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Glucose at 30, 60, 90 and 120 minutes, plus 10th and 90th percentiles for an 80% band</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Spike risk: onset above 180 (and above 250) mg/dL for at least 15 minutes within 2 hours</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Alert threshold frozen on validation patients at 70% precision; one notification per 120 minutes</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SHAP reasons for every alert</a:t>
            </a:r>
            <a:endParaRPr lang="en-US" sz="1400" dirty="0"/>
          </a:p>
        </p:txBody>
      </p:sp>
      <p:sp>
        <p:nvSpPr>
          <p:cNvPr id="24" name="Text 22"/>
          <p:cNvSpPr txBox="1"/>
          <p:nvPr/>
        </p:nvSpPr>
        <p:spPr>
          <a:xfrm>
            <a:off x="6492240" y="4434840"/>
            <a:ext cx="5120640" cy="365760"/>
          </a:xfrm>
          <a:prstGeom prst="rect">
            <a:avLst/>
          </a:prstGeom>
          <a:noFill/>
          <a:ln/>
        </p:spPr>
        <p:txBody>
          <a:bodyPr wrap="square" lIns="0" tIns="0" rIns="0" bIns="0" rtlCol="0" anchor="t"/>
          <a:lstStyle/>
          <a:p>
            <a:pPr indent="0" marL="0">
              <a:buNone/>
            </a:pPr>
            <a:r>
              <a:rPr lang="en-US" sz="1800" b="1" dirty="0">
                <a:solidFill>
                  <a:srgbClr val="13202B"/>
                </a:solidFill>
                <a:latin typeface="Cambria" pitchFamily="34" charset="0"/>
                <a:ea typeface="Cambria" pitchFamily="34" charset="-122"/>
                <a:cs typeface="Cambria" pitchFamily="34" charset="-120"/>
              </a:rPr>
              <a:t>Leakage controls</a:t>
            </a:r>
            <a:endParaRPr lang="en-US" sz="1800" dirty="0"/>
          </a:p>
        </p:txBody>
      </p:sp>
      <p:sp>
        <p:nvSpPr>
          <p:cNvPr id="25" name="Text 23"/>
          <p:cNvSpPr txBox="1"/>
          <p:nvPr/>
        </p:nvSpPr>
        <p:spPr>
          <a:xfrm>
            <a:off x="6492240" y="4846320"/>
            <a:ext cx="5120640" cy="14630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Train, validation and test are different patients (122 / 41 / 41)</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Only data before the moment of prediction; meals count once logged</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Results on days 8-21, after the twin's onboarding week</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RESULTS: FORECASTING</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Prahari forecasts glucose 2 hours ahead with an error of 24.2 mg/dL, less than half of 'no change'</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9</a:t>
            </a:r>
            <a:endParaRPr lang="en-US" sz="900" dirty="0"/>
          </a:p>
        </p:txBody>
      </p:sp>
      <p:sp>
        <p:nvSpPr>
          <p:cNvPr id="6" name="Text 4"/>
          <p:cNvSpPr txBox="1"/>
          <p:nvPr/>
        </p:nvSpPr>
        <p:spPr>
          <a:xfrm>
            <a:off x="548640" y="1645920"/>
            <a:ext cx="6583680" cy="320040"/>
          </a:xfrm>
          <a:prstGeom prst="rect">
            <a:avLst/>
          </a:prstGeom>
          <a:noFill/>
          <a:ln/>
        </p:spPr>
        <p:txBody>
          <a:bodyPr wrap="square" lIns="0" tIns="0" rIns="0" bIns="0" rtlCol="0" anchor="t"/>
          <a:lstStyle/>
          <a:p>
            <a:pPr indent="0" marL="0">
              <a:buNone/>
            </a:pPr>
            <a:r>
              <a:rPr lang="en-US" sz="1300" b="1" dirty="0">
                <a:solidFill>
                  <a:srgbClr val="4A5565"/>
                </a:solidFill>
                <a:latin typeface="Calibri" pitchFamily="34" charset="0"/>
                <a:ea typeface="Calibri" pitchFamily="34" charset="-122"/>
                <a:cs typeface="Calibri" pitchFamily="34" charset="-120"/>
              </a:rPr>
              <a:t>RMSE at 120 minutes, mg/dL (41 held-out patients, days 8-21)</a:t>
            </a:r>
            <a:endParaRPr lang="en-US" sz="1300" dirty="0"/>
          </a:p>
        </p:txBody>
      </p:sp>
      <p:sp>
        <p:nvSpPr>
          <p:cNvPr id="7" name="Text 5"/>
          <p:cNvSpPr txBox="1"/>
          <p:nvPr/>
        </p:nvSpPr>
        <p:spPr>
          <a:xfrm>
            <a:off x="548640" y="2057400"/>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Persistence (no change)</a:t>
            </a:r>
            <a:endParaRPr lang="en-US" sz="1250" dirty="0"/>
          </a:p>
        </p:txBody>
      </p:sp>
      <p:sp>
        <p:nvSpPr>
          <p:cNvPr id="8" name="Shape 6"/>
          <p:cNvSpPr/>
          <p:nvPr/>
        </p:nvSpPr>
        <p:spPr>
          <a:xfrm>
            <a:off x="3566160" y="2093976"/>
            <a:ext cx="2883794" cy="256032"/>
          </a:xfrm>
          <a:prstGeom prst="rect">
            <a:avLst/>
          </a:prstGeom>
          <a:solidFill>
            <a:srgbClr val="B8C1CC"/>
          </a:solidFill>
          <a:ln w="6350">
            <a:solidFill>
              <a:srgbClr val="B8C1CC"/>
            </a:solidFill>
            <a:prstDash val="solid"/>
          </a:ln>
        </p:spPr>
      </p:sp>
      <p:sp>
        <p:nvSpPr>
          <p:cNvPr id="9" name="Text 7"/>
          <p:cNvSpPr txBox="1"/>
          <p:nvPr/>
        </p:nvSpPr>
        <p:spPr>
          <a:xfrm>
            <a:off x="6523106" y="2057400"/>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57.3</a:t>
            </a:r>
            <a:endParaRPr lang="en-US" sz="1250" dirty="0"/>
          </a:p>
        </p:txBody>
      </p:sp>
      <p:sp>
        <p:nvSpPr>
          <p:cNvPr id="10" name="Text 8"/>
          <p:cNvSpPr txBox="1"/>
          <p:nvPr/>
        </p:nvSpPr>
        <p:spPr>
          <a:xfrm>
            <a:off x="548640" y="2532888"/>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Linear model on CGM</a:t>
            </a:r>
            <a:endParaRPr lang="en-US" sz="1250" dirty="0"/>
          </a:p>
        </p:txBody>
      </p:sp>
      <p:sp>
        <p:nvSpPr>
          <p:cNvPr id="11" name="Shape 9"/>
          <p:cNvSpPr/>
          <p:nvPr/>
        </p:nvSpPr>
        <p:spPr>
          <a:xfrm>
            <a:off x="3566160" y="2569464"/>
            <a:ext cx="1901490" cy="256032"/>
          </a:xfrm>
          <a:prstGeom prst="rect">
            <a:avLst/>
          </a:prstGeom>
          <a:solidFill>
            <a:srgbClr val="B8C1CC"/>
          </a:solidFill>
          <a:ln w="6350">
            <a:solidFill>
              <a:srgbClr val="B8C1CC"/>
            </a:solidFill>
            <a:prstDash val="solid"/>
          </a:ln>
        </p:spPr>
      </p:sp>
      <p:sp>
        <p:nvSpPr>
          <p:cNvPr id="12" name="Text 10"/>
          <p:cNvSpPr txBox="1"/>
          <p:nvPr/>
        </p:nvSpPr>
        <p:spPr>
          <a:xfrm>
            <a:off x="5540802" y="2532888"/>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37.8</a:t>
            </a:r>
            <a:endParaRPr lang="en-US" sz="1250" dirty="0"/>
          </a:p>
        </p:txBody>
      </p:sp>
      <p:sp>
        <p:nvSpPr>
          <p:cNvPr id="13" name="Text 11"/>
          <p:cNvSpPr txBox="1"/>
          <p:nvPr/>
        </p:nvSpPr>
        <p:spPr>
          <a:xfrm>
            <a:off x="548640" y="3008376"/>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Twin alone (physics)</a:t>
            </a:r>
            <a:endParaRPr lang="en-US" sz="1250" dirty="0"/>
          </a:p>
        </p:txBody>
      </p:sp>
      <p:sp>
        <p:nvSpPr>
          <p:cNvPr id="14" name="Shape 12"/>
          <p:cNvSpPr/>
          <p:nvPr/>
        </p:nvSpPr>
        <p:spPr>
          <a:xfrm>
            <a:off x="3566160" y="3044952"/>
            <a:ext cx="1963601" cy="256032"/>
          </a:xfrm>
          <a:prstGeom prst="rect">
            <a:avLst/>
          </a:prstGeom>
          <a:solidFill>
            <a:srgbClr val="B8C1CC"/>
          </a:solidFill>
          <a:ln w="6350">
            <a:solidFill>
              <a:srgbClr val="B8C1CC"/>
            </a:solidFill>
            <a:prstDash val="solid"/>
          </a:ln>
        </p:spPr>
      </p:sp>
      <p:sp>
        <p:nvSpPr>
          <p:cNvPr id="15" name="Text 13"/>
          <p:cNvSpPr txBox="1"/>
          <p:nvPr/>
        </p:nvSpPr>
        <p:spPr>
          <a:xfrm>
            <a:off x="5602913" y="3008376"/>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39.0</a:t>
            </a:r>
            <a:endParaRPr lang="en-US" sz="1250" dirty="0"/>
          </a:p>
        </p:txBody>
      </p:sp>
      <p:sp>
        <p:nvSpPr>
          <p:cNvPr id="16" name="Text 14"/>
          <p:cNvSpPr txBox="1"/>
          <p:nvPr/>
        </p:nvSpPr>
        <p:spPr>
          <a:xfrm>
            <a:off x="548640" y="3483864"/>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LightGBM on CGM only</a:t>
            </a:r>
            <a:endParaRPr lang="en-US" sz="1250" dirty="0"/>
          </a:p>
        </p:txBody>
      </p:sp>
      <p:sp>
        <p:nvSpPr>
          <p:cNvPr id="17" name="Shape 15"/>
          <p:cNvSpPr/>
          <p:nvPr/>
        </p:nvSpPr>
        <p:spPr>
          <a:xfrm>
            <a:off x="3566160" y="3520440"/>
            <a:ext cx="1378051" cy="256032"/>
          </a:xfrm>
          <a:prstGeom prst="rect">
            <a:avLst/>
          </a:prstGeom>
          <a:solidFill>
            <a:srgbClr val="B8C1CC"/>
          </a:solidFill>
          <a:ln w="6350">
            <a:solidFill>
              <a:srgbClr val="B8C1CC"/>
            </a:solidFill>
            <a:prstDash val="solid"/>
          </a:ln>
        </p:spPr>
      </p:sp>
      <p:sp>
        <p:nvSpPr>
          <p:cNvPr id="18" name="Text 16"/>
          <p:cNvSpPr txBox="1"/>
          <p:nvPr/>
        </p:nvSpPr>
        <p:spPr>
          <a:xfrm>
            <a:off x="5017363" y="3483864"/>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27.4</a:t>
            </a:r>
            <a:endParaRPr lang="en-US" sz="1250" dirty="0"/>
          </a:p>
        </p:txBody>
      </p:sp>
      <p:sp>
        <p:nvSpPr>
          <p:cNvPr id="19" name="Text 17"/>
          <p:cNvSpPr txBox="1"/>
          <p:nvPr/>
        </p:nvSpPr>
        <p:spPr>
          <a:xfrm>
            <a:off x="548640" y="3959352"/>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 wearables and meals</a:t>
            </a:r>
            <a:endParaRPr lang="en-US" sz="1250" dirty="0"/>
          </a:p>
        </p:txBody>
      </p:sp>
      <p:sp>
        <p:nvSpPr>
          <p:cNvPr id="20" name="Shape 18"/>
          <p:cNvSpPr/>
          <p:nvPr/>
        </p:nvSpPr>
        <p:spPr>
          <a:xfrm>
            <a:off x="3566160" y="3995928"/>
            <a:ext cx="1271432" cy="256032"/>
          </a:xfrm>
          <a:prstGeom prst="rect">
            <a:avLst/>
          </a:prstGeom>
          <a:solidFill>
            <a:srgbClr val="B8C1CC"/>
          </a:solidFill>
          <a:ln w="6350">
            <a:solidFill>
              <a:srgbClr val="B8C1CC"/>
            </a:solidFill>
            <a:prstDash val="solid"/>
          </a:ln>
        </p:spPr>
      </p:sp>
      <p:sp>
        <p:nvSpPr>
          <p:cNvPr id="21" name="Text 19"/>
          <p:cNvSpPr txBox="1"/>
          <p:nvPr/>
        </p:nvSpPr>
        <p:spPr>
          <a:xfrm>
            <a:off x="4910744" y="3959352"/>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25.3</a:t>
            </a:r>
            <a:endParaRPr lang="en-US" sz="1250" dirty="0"/>
          </a:p>
        </p:txBody>
      </p:sp>
      <p:sp>
        <p:nvSpPr>
          <p:cNvPr id="22" name="Text 20"/>
          <p:cNvSpPr txBox="1"/>
          <p:nvPr/>
        </p:nvSpPr>
        <p:spPr>
          <a:xfrm>
            <a:off x="548640" y="4434840"/>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 EHR</a:t>
            </a:r>
            <a:endParaRPr lang="en-US" sz="1250" dirty="0"/>
          </a:p>
        </p:txBody>
      </p:sp>
      <p:sp>
        <p:nvSpPr>
          <p:cNvPr id="23" name="Shape 21"/>
          <p:cNvSpPr/>
          <p:nvPr/>
        </p:nvSpPr>
        <p:spPr>
          <a:xfrm>
            <a:off x="3566160" y="4471416"/>
            <a:ext cx="1285212" cy="256032"/>
          </a:xfrm>
          <a:prstGeom prst="rect">
            <a:avLst/>
          </a:prstGeom>
          <a:solidFill>
            <a:srgbClr val="B8C1CC"/>
          </a:solidFill>
          <a:ln w="6350">
            <a:solidFill>
              <a:srgbClr val="B8C1CC"/>
            </a:solidFill>
            <a:prstDash val="solid"/>
          </a:ln>
        </p:spPr>
      </p:sp>
      <p:sp>
        <p:nvSpPr>
          <p:cNvPr id="24" name="Text 22"/>
          <p:cNvSpPr txBox="1"/>
          <p:nvPr/>
        </p:nvSpPr>
        <p:spPr>
          <a:xfrm>
            <a:off x="4924524" y="4434840"/>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25.6</a:t>
            </a:r>
            <a:endParaRPr lang="en-US" sz="1250" dirty="0"/>
          </a:p>
        </p:txBody>
      </p:sp>
      <p:sp>
        <p:nvSpPr>
          <p:cNvPr id="25" name="Text 23"/>
          <p:cNvSpPr txBox="1"/>
          <p:nvPr/>
        </p:nvSpPr>
        <p:spPr>
          <a:xfrm>
            <a:off x="548640" y="4910328"/>
            <a:ext cx="2926080" cy="329184"/>
          </a:xfrm>
          <a:prstGeom prst="rect">
            <a:avLst/>
          </a:prstGeom>
          <a:noFill/>
          <a:ln/>
        </p:spPr>
        <p:txBody>
          <a:bodyPr wrap="square" lIns="0" tIns="0" rIns="0" bIns="0" rtlCol="0" anchor="ctr"/>
          <a:lstStyle/>
          <a:p>
            <a:pPr algn="r" indent="0" marL="0">
              <a:buNone/>
            </a:pPr>
            <a:r>
              <a:rPr lang="en-US" sz="1250" b="1" dirty="0">
                <a:solidFill>
                  <a:srgbClr val="13202B"/>
                </a:solidFill>
                <a:latin typeface="Calibri" pitchFamily="34" charset="0"/>
                <a:ea typeface="Calibri" pitchFamily="34" charset="-122"/>
                <a:cs typeface="Calibri" pitchFamily="34" charset="-120"/>
              </a:rPr>
              <a:t>Prahari: + twin</a:t>
            </a:r>
            <a:endParaRPr lang="en-US" sz="1250" dirty="0"/>
          </a:p>
        </p:txBody>
      </p:sp>
      <p:sp>
        <p:nvSpPr>
          <p:cNvPr id="26" name="Shape 24"/>
          <p:cNvSpPr/>
          <p:nvPr/>
        </p:nvSpPr>
        <p:spPr>
          <a:xfrm>
            <a:off x="3566160" y="4946904"/>
            <a:ext cx="1219430" cy="256032"/>
          </a:xfrm>
          <a:prstGeom prst="rect">
            <a:avLst/>
          </a:prstGeom>
          <a:solidFill>
            <a:srgbClr val="0F766E"/>
          </a:solidFill>
          <a:ln w="6350">
            <a:solidFill>
              <a:srgbClr val="0F766E"/>
            </a:solidFill>
            <a:prstDash val="solid"/>
          </a:ln>
        </p:spPr>
      </p:sp>
      <p:sp>
        <p:nvSpPr>
          <p:cNvPr id="27" name="Text 25"/>
          <p:cNvSpPr txBox="1"/>
          <p:nvPr/>
        </p:nvSpPr>
        <p:spPr>
          <a:xfrm>
            <a:off x="4858742" y="4910328"/>
            <a:ext cx="822960" cy="329184"/>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24.2</a:t>
            </a:r>
            <a:endParaRPr lang="en-US" sz="1250" dirty="0"/>
          </a:p>
        </p:txBody>
      </p:sp>
      <p:sp>
        <p:nvSpPr>
          <p:cNvPr id="28" name="Shape 26"/>
          <p:cNvSpPr/>
          <p:nvPr/>
        </p:nvSpPr>
        <p:spPr>
          <a:xfrm>
            <a:off x="7589520" y="1691640"/>
            <a:ext cx="4069080" cy="1417320"/>
          </a:xfrm>
          <a:prstGeom prst="roundRect">
            <a:avLst>
              <a:gd name="adj" fmla="val 5161"/>
            </a:avLst>
          </a:prstGeom>
          <a:solidFill>
            <a:srgbClr val="E3F2EF"/>
          </a:solidFill>
          <a:ln w="6350">
            <a:solidFill>
              <a:srgbClr val="E3F2EF"/>
            </a:solidFill>
            <a:prstDash val="solid"/>
          </a:ln>
        </p:spPr>
      </p:sp>
      <p:sp>
        <p:nvSpPr>
          <p:cNvPr id="29" name="Text 27"/>
          <p:cNvSpPr txBox="1"/>
          <p:nvPr/>
        </p:nvSpPr>
        <p:spPr>
          <a:xfrm>
            <a:off x="7818120" y="1783080"/>
            <a:ext cx="36576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17.2 · 21.1 · 24.2</a:t>
            </a:r>
            <a:endParaRPr lang="en-US" sz="3600" dirty="0"/>
          </a:p>
        </p:txBody>
      </p:sp>
      <p:sp>
        <p:nvSpPr>
          <p:cNvPr id="30" name="Text 28"/>
          <p:cNvSpPr txBox="1"/>
          <p:nvPr/>
        </p:nvSpPr>
        <p:spPr>
          <a:xfrm>
            <a:off x="7818120" y="2496312"/>
            <a:ext cx="36576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RMSE at 30 · 60 · 120 minutes (mg/dL)</a:t>
            </a:r>
            <a:endParaRPr lang="en-US" sz="1300" dirty="0"/>
          </a:p>
        </p:txBody>
      </p:sp>
      <p:sp>
        <p:nvSpPr>
          <p:cNvPr id="31" name="Shape 29"/>
          <p:cNvSpPr/>
          <p:nvPr/>
        </p:nvSpPr>
        <p:spPr>
          <a:xfrm>
            <a:off x="7589520" y="3246120"/>
            <a:ext cx="4069080" cy="1417320"/>
          </a:xfrm>
          <a:prstGeom prst="roundRect">
            <a:avLst>
              <a:gd name="adj" fmla="val 5161"/>
            </a:avLst>
          </a:prstGeom>
          <a:solidFill>
            <a:srgbClr val="F3F5F8"/>
          </a:solidFill>
          <a:ln w="6350">
            <a:solidFill>
              <a:srgbClr val="F3F5F8"/>
            </a:solidFill>
            <a:prstDash val="solid"/>
          </a:ln>
        </p:spPr>
      </p:sp>
      <p:sp>
        <p:nvSpPr>
          <p:cNvPr id="32" name="Text 30"/>
          <p:cNvSpPr txBox="1"/>
          <p:nvPr/>
        </p:nvSpPr>
        <p:spPr>
          <a:xfrm>
            <a:off x="7818120" y="3337560"/>
            <a:ext cx="3657600" cy="685800"/>
          </a:xfrm>
          <a:prstGeom prst="rect">
            <a:avLst/>
          </a:prstGeom>
          <a:noFill/>
          <a:ln/>
        </p:spPr>
        <p:txBody>
          <a:bodyPr wrap="square" lIns="0" tIns="0" rIns="0" bIns="0" rtlCol="0" anchor="t"/>
          <a:lstStyle/>
          <a:p>
            <a:pPr indent="0" marL="0">
              <a:buNone/>
            </a:pPr>
            <a:r>
              <a:rPr lang="en-US" sz="3600" b="1" dirty="0">
                <a:solidFill>
                  <a:srgbClr val="B45309"/>
                </a:solidFill>
                <a:latin typeface="Cambria" pitchFamily="34" charset="0"/>
                <a:ea typeface="Cambria" pitchFamily="34" charset="-122"/>
                <a:cs typeface="Cambria" pitchFamily="34" charset="-120"/>
              </a:rPr>
              <a:t>41 → 25</a:t>
            </a:r>
            <a:endParaRPr lang="en-US" sz="3600" dirty="0"/>
          </a:p>
        </p:txBody>
      </p:sp>
      <p:sp>
        <p:nvSpPr>
          <p:cNvPr id="33" name="Text 31"/>
          <p:cNvSpPr txBox="1"/>
          <p:nvPr/>
        </p:nvSpPr>
        <p:spPr>
          <a:xfrm>
            <a:off x="7818120" y="4050792"/>
            <a:ext cx="36576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60-min error in the 45 min after a meal: CGM-only vs Prahari</a:t>
            </a:r>
            <a:endParaRPr lang="en-US" sz="1300" dirty="0"/>
          </a:p>
        </p:txBody>
      </p:sp>
      <p:sp>
        <p:nvSpPr>
          <p:cNvPr id="34" name="Shape 32"/>
          <p:cNvSpPr/>
          <p:nvPr/>
        </p:nvSpPr>
        <p:spPr>
          <a:xfrm>
            <a:off x="7589520" y="4800600"/>
            <a:ext cx="4069080" cy="1417320"/>
          </a:xfrm>
          <a:prstGeom prst="roundRect">
            <a:avLst>
              <a:gd name="adj" fmla="val 5161"/>
            </a:avLst>
          </a:prstGeom>
          <a:solidFill>
            <a:srgbClr val="F3F5F8"/>
          </a:solidFill>
          <a:ln w="6350">
            <a:solidFill>
              <a:srgbClr val="F3F5F8"/>
            </a:solidFill>
            <a:prstDash val="solid"/>
          </a:ln>
        </p:spPr>
      </p:sp>
      <p:sp>
        <p:nvSpPr>
          <p:cNvPr id="35" name="Text 33"/>
          <p:cNvSpPr txBox="1"/>
          <p:nvPr/>
        </p:nvSpPr>
        <p:spPr>
          <a:xfrm>
            <a:off x="7818120" y="4892040"/>
            <a:ext cx="3657600" cy="685800"/>
          </a:xfrm>
          <a:prstGeom prst="rect">
            <a:avLst/>
          </a:prstGeom>
          <a:noFill/>
          <a:ln/>
        </p:spPr>
        <p:txBody>
          <a:bodyPr wrap="square" lIns="0" tIns="0" rIns="0" bIns="0" rtlCol="0" anchor="t"/>
          <a:lstStyle/>
          <a:p>
            <a:pPr indent="0" marL="0">
              <a:buNone/>
            </a:pPr>
            <a:r>
              <a:rPr lang="en-US" sz="3600" b="1" dirty="0">
                <a:solidFill>
                  <a:srgbClr val="1F4E8C"/>
                </a:solidFill>
                <a:latin typeface="Cambria" pitchFamily="34" charset="0"/>
                <a:ea typeface="Cambria" pitchFamily="34" charset="-122"/>
                <a:cs typeface="Cambria" pitchFamily="34" charset="-120"/>
              </a:rPr>
              <a:t>99.6%</a:t>
            </a:r>
            <a:endParaRPr lang="en-US" sz="3600" dirty="0"/>
          </a:p>
        </p:txBody>
      </p:sp>
      <p:sp>
        <p:nvSpPr>
          <p:cNvPr id="36" name="Text 34"/>
          <p:cNvSpPr txBox="1"/>
          <p:nvPr/>
        </p:nvSpPr>
        <p:spPr>
          <a:xfrm>
            <a:off x="7818120" y="5605272"/>
            <a:ext cx="36576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of 60-min forecasts in Clarke zones A+B (clinically acceptable)</a:t>
            </a:r>
            <a:endParaRPr lang="en-US" sz="1300" dirty="0"/>
          </a:p>
        </p:txBody>
      </p:sp>
      <p:sp>
        <p:nvSpPr>
          <p:cNvPr id="37" name="Text 35"/>
          <p:cNvSpPr txBox="1"/>
          <p:nvPr/>
        </p:nvSpPr>
        <p:spPr>
          <a:xfrm>
            <a:off x="548640" y="5532120"/>
            <a:ext cx="6766560" cy="64008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The twin's features cut error by 1.7 mg/dL at 60 min (95% CI 1.2-2.2) over the same model without them.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RESULTS: SPIKE WARNINGS</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It flags 3 in 4 spikes about 85 minutes before they start; severe spikes remain the hard part</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48640" y="1691640"/>
            <a:ext cx="3611880" cy="1920240"/>
          </a:xfrm>
          <a:prstGeom prst="roundRect">
            <a:avLst>
              <a:gd name="adj" fmla="val 3810"/>
            </a:avLst>
          </a:prstGeom>
          <a:solidFill>
            <a:srgbClr val="E3F2EF"/>
          </a:solidFill>
          <a:ln w="6350">
            <a:solidFill>
              <a:srgbClr val="E3F2EF"/>
            </a:solidFill>
            <a:prstDash val="solid"/>
          </a:ln>
        </p:spPr>
      </p:sp>
      <p:sp>
        <p:nvSpPr>
          <p:cNvPr id="7" name="Text 5"/>
          <p:cNvSpPr txBox="1"/>
          <p:nvPr/>
        </p:nvSpPr>
        <p:spPr>
          <a:xfrm>
            <a:off x="777240" y="1828800"/>
            <a:ext cx="32004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76%</a:t>
            </a:r>
            <a:endParaRPr lang="en-US" sz="3600" dirty="0"/>
          </a:p>
        </p:txBody>
      </p:sp>
      <p:sp>
        <p:nvSpPr>
          <p:cNvPr id="8" name="Text 6"/>
          <p:cNvSpPr txBox="1"/>
          <p:nvPr/>
        </p:nvSpPr>
        <p:spPr>
          <a:xfrm>
            <a:off x="777240" y="2542032"/>
            <a:ext cx="32004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of spikes above 180 flagged 15-120 min ahead</a:t>
            </a:r>
            <a:endParaRPr lang="en-US" sz="1300" dirty="0"/>
          </a:p>
        </p:txBody>
      </p:sp>
      <p:sp>
        <p:nvSpPr>
          <p:cNvPr id="9" name="Shape 7"/>
          <p:cNvSpPr/>
          <p:nvPr/>
        </p:nvSpPr>
        <p:spPr>
          <a:xfrm>
            <a:off x="4297680" y="1691640"/>
            <a:ext cx="3611880" cy="1920240"/>
          </a:xfrm>
          <a:prstGeom prst="roundRect">
            <a:avLst>
              <a:gd name="adj" fmla="val 3810"/>
            </a:avLst>
          </a:prstGeom>
          <a:solidFill>
            <a:srgbClr val="E3F2EF"/>
          </a:solidFill>
          <a:ln w="6350">
            <a:solidFill>
              <a:srgbClr val="E3F2EF"/>
            </a:solidFill>
            <a:prstDash val="solid"/>
          </a:ln>
        </p:spPr>
      </p:sp>
      <p:sp>
        <p:nvSpPr>
          <p:cNvPr id="10" name="Text 8"/>
          <p:cNvSpPr txBox="1"/>
          <p:nvPr/>
        </p:nvSpPr>
        <p:spPr>
          <a:xfrm>
            <a:off x="4526280" y="1828800"/>
            <a:ext cx="3200400" cy="685800"/>
          </a:xfrm>
          <a:prstGeom prst="rect">
            <a:avLst/>
          </a:prstGeom>
          <a:noFill/>
          <a:ln/>
        </p:spPr>
        <p:txBody>
          <a:bodyPr wrap="square" lIns="0" tIns="0" rIns="0" bIns="0" rtlCol="0" anchor="t"/>
          <a:lstStyle/>
          <a:p>
            <a:pPr indent="0" marL="0">
              <a:buNone/>
            </a:pPr>
            <a:r>
              <a:rPr lang="en-US" sz="3600" b="1" dirty="0">
                <a:solidFill>
                  <a:srgbClr val="0F766E"/>
                </a:solidFill>
                <a:latin typeface="Cambria" pitchFamily="34" charset="0"/>
                <a:ea typeface="Cambria" pitchFamily="34" charset="-122"/>
                <a:cs typeface="Cambria" pitchFamily="34" charset="-120"/>
              </a:rPr>
              <a:t>85 min</a:t>
            </a:r>
            <a:endParaRPr lang="en-US" sz="3600" dirty="0"/>
          </a:p>
        </p:txBody>
      </p:sp>
      <p:sp>
        <p:nvSpPr>
          <p:cNvPr id="11" name="Text 9"/>
          <p:cNvSpPr txBox="1"/>
          <p:nvPr/>
        </p:nvSpPr>
        <p:spPr>
          <a:xfrm>
            <a:off x="4526280" y="2542032"/>
            <a:ext cx="32004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median warning before the spike starts</a:t>
            </a:r>
            <a:endParaRPr lang="en-US" sz="1300" dirty="0"/>
          </a:p>
        </p:txBody>
      </p:sp>
      <p:sp>
        <p:nvSpPr>
          <p:cNvPr id="12" name="Shape 10"/>
          <p:cNvSpPr/>
          <p:nvPr/>
        </p:nvSpPr>
        <p:spPr>
          <a:xfrm>
            <a:off x="8046720" y="1691640"/>
            <a:ext cx="3611880" cy="1920240"/>
          </a:xfrm>
          <a:prstGeom prst="roundRect">
            <a:avLst>
              <a:gd name="adj" fmla="val 3810"/>
            </a:avLst>
          </a:prstGeom>
          <a:solidFill>
            <a:srgbClr val="F3F5F8"/>
          </a:solidFill>
          <a:ln w="6350">
            <a:solidFill>
              <a:srgbClr val="F3F5F8"/>
            </a:solidFill>
            <a:prstDash val="solid"/>
          </a:ln>
        </p:spPr>
      </p:sp>
      <p:sp>
        <p:nvSpPr>
          <p:cNvPr id="13" name="Text 11"/>
          <p:cNvSpPr txBox="1"/>
          <p:nvPr/>
        </p:nvSpPr>
        <p:spPr>
          <a:xfrm>
            <a:off x="8275320" y="1828800"/>
            <a:ext cx="3200400" cy="685800"/>
          </a:xfrm>
          <a:prstGeom prst="rect">
            <a:avLst/>
          </a:prstGeom>
          <a:noFill/>
          <a:ln/>
        </p:spPr>
        <p:txBody>
          <a:bodyPr wrap="square" lIns="0" tIns="0" rIns="0" bIns="0" rtlCol="0" anchor="t"/>
          <a:lstStyle/>
          <a:p>
            <a:pPr indent="0" marL="0">
              <a:buNone/>
            </a:pPr>
            <a:r>
              <a:rPr lang="en-US" sz="3600" b="1" dirty="0">
                <a:solidFill>
                  <a:srgbClr val="1F4E8C"/>
                </a:solidFill>
                <a:latin typeface="Cambria" pitchFamily="34" charset="0"/>
                <a:ea typeface="Cambria" pitchFamily="34" charset="-122"/>
                <a:cs typeface="Cambria" pitchFamily="34" charset="-120"/>
              </a:rPr>
              <a:t>60%</a:t>
            </a:r>
            <a:endParaRPr lang="en-US" sz="3600" dirty="0"/>
          </a:p>
        </p:txBody>
      </p:sp>
      <p:sp>
        <p:nvSpPr>
          <p:cNvPr id="14" name="Text 12"/>
          <p:cNvSpPr txBox="1"/>
          <p:nvPr/>
        </p:nvSpPr>
        <p:spPr>
          <a:xfrm>
            <a:off x="8275320" y="2542032"/>
            <a:ext cx="3200400" cy="685800"/>
          </a:xfrm>
          <a:prstGeom prst="rect">
            <a:avLst/>
          </a:prstGeom>
          <a:noFill/>
          <a:ln/>
        </p:spPr>
        <p:txBody>
          <a:bodyPr wrap="square" lIns="0" tIns="0" rIns="0" bIns="0" rtlCol="0" anchor="t"/>
          <a:lstStyle/>
          <a:p>
            <a:pPr indent="0" marL="0">
              <a:buNone/>
            </a:pPr>
            <a:r>
              <a:rPr lang="en-US" sz="1300" dirty="0">
                <a:solidFill>
                  <a:srgbClr val="4A5565"/>
                </a:solidFill>
                <a:latin typeface="Calibri" pitchFamily="34" charset="0"/>
                <a:ea typeface="Calibri" pitchFamily="34" charset="-122"/>
                <a:cs typeface="Calibri" pitchFamily="34" charset="-120"/>
              </a:rPr>
              <a:t>of notifications followed by a spike (2.9 per patient-day)</a:t>
            </a:r>
            <a:endParaRPr lang="en-US" sz="1300" dirty="0"/>
          </a:p>
        </p:txBody>
      </p:sp>
      <p:sp>
        <p:nvSpPr>
          <p:cNvPr id="15" name="Text 13"/>
          <p:cNvSpPr txBox="1"/>
          <p:nvPr/>
        </p:nvSpPr>
        <p:spPr>
          <a:xfrm>
            <a:off x="548640" y="3840480"/>
            <a:ext cx="6949440" cy="320040"/>
          </a:xfrm>
          <a:prstGeom prst="rect">
            <a:avLst/>
          </a:prstGeom>
          <a:noFill/>
          <a:ln/>
        </p:spPr>
        <p:txBody>
          <a:bodyPr wrap="square" lIns="0" tIns="0" rIns="0" bIns="0" rtlCol="0" anchor="t"/>
          <a:lstStyle/>
          <a:p>
            <a:pPr indent="0" marL="0">
              <a:buNone/>
            </a:pPr>
            <a:r>
              <a:rPr lang="en-US" sz="1300" b="1" dirty="0">
                <a:solidFill>
                  <a:srgbClr val="4A5565"/>
                </a:solidFill>
                <a:latin typeface="Calibri" pitchFamily="34" charset="0"/>
                <a:ea typeface="Calibri" pitchFamily="34" charset="-122"/>
                <a:cs typeface="Calibri" pitchFamily="34" charset="-120"/>
              </a:rPr>
              <a:t>Spikes above 180 flagged early, every model at the same alert budget (AUPRC in brackets)</a:t>
            </a:r>
            <a:endParaRPr lang="en-US" sz="1300" dirty="0"/>
          </a:p>
        </p:txBody>
      </p:sp>
      <p:sp>
        <p:nvSpPr>
          <p:cNvPr id="16" name="Text 14"/>
          <p:cNvSpPr txBox="1"/>
          <p:nvPr/>
        </p:nvSpPr>
        <p:spPr>
          <a:xfrm>
            <a:off x="548640" y="4206240"/>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CGM only (0.72)</a:t>
            </a:r>
            <a:endParaRPr lang="en-US" sz="1250" dirty="0"/>
          </a:p>
        </p:txBody>
      </p:sp>
      <p:sp>
        <p:nvSpPr>
          <p:cNvPr id="17" name="Shape 15"/>
          <p:cNvSpPr/>
          <p:nvPr/>
        </p:nvSpPr>
        <p:spPr>
          <a:xfrm>
            <a:off x="3566160" y="4242816"/>
            <a:ext cx="2325475" cy="256032"/>
          </a:xfrm>
          <a:prstGeom prst="rect">
            <a:avLst/>
          </a:prstGeom>
          <a:solidFill>
            <a:srgbClr val="B8C1CC"/>
          </a:solidFill>
          <a:ln w="6350">
            <a:solidFill>
              <a:srgbClr val="B8C1CC"/>
            </a:solidFill>
            <a:prstDash val="solid"/>
          </a:ln>
        </p:spPr>
      </p:sp>
      <p:sp>
        <p:nvSpPr>
          <p:cNvPr id="18" name="Text 16"/>
          <p:cNvSpPr txBox="1"/>
          <p:nvPr/>
        </p:nvSpPr>
        <p:spPr>
          <a:xfrm>
            <a:off x="5964787" y="4206240"/>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72.7%</a:t>
            </a:r>
            <a:endParaRPr lang="en-US" sz="1250" dirty="0"/>
          </a:p>
        </p:txBody>
      </p:sp>
      <p:sp>
        <p:nvSpPr>
          <p:cNvPr id="19" name="Text 17"/>
          <p:cNvSpPr txBox="1"/>
          <p:nvPr/>
        </p:nvSpPr>
        <p:spPr>
          <a:xfrm>
            <a:off x="548640" y="4645152"/>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 wearables, meals (0.74)</a:t>
            </a:r>
            <a:endParaRPr lang="en-US" sz="1250" dirty="0"/>
          </a:p>
        </p:txBody>
      </p:sp>
      <p:sp>
        <p:nvSpPr>
          <p:cNvPr id="20" name="Shape 18"/>
          <p:cNvSpPr/>
          <p:nvPr/>
        </p:nvSpPr>
        <p:spPr>
          <a:xfrm>
            <a:off x="3566160" y="4681728"/>
            <a:ext cx="2403180" cy="256032"/>
          </a:xfrm>
          <a:prstGeom prst="rect">
            <a:avLst/>
          </a:prstGeom>
          <a:solidFill>
            <a:srgbClr val="B8C1CC"/>
          </a:solidFill>
          <a:ln w="6350">
            <a:solidFill>
              <a:srgbClr val="B8C1CC"/>
            </a:solidFill>
            <a:prstDash val="solid"/>
          </a:ln>
        </p:spPr>
      </p:sp>
      <p:sp>
        <p:nvSpPr>
          <p:cNvPr id="21" name="Text 19"/>
          <p:cNvSpPr txBox="1"/>
          <p:nvPr/>
        </p:nvSpPr>
        <p:spPr>
          <a:xfrm>
            <a:off x="6042492" y="4645152"/>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75.1%</a:t>
            </a:r>
            <a:endParaRPr lang="en-US" sz="1250" dirty="0"/>
          </a:p>
        </p:txBody>
      </p:sp>
      <p:sp>
        <p:nvSpPr>
          <p:cNvPr id="22" name="Text 20"/>
          <p:cNvSpPr txBox="1"/>
          <p:nvPr/>
        </p:nvSpPr>
        <p:spPr>
          <a:xfrm>
            <a:off x="548640" y="5084064"/>
            <a:ext cx="2926080" cy="329184"/>
          </a:xfrm>
          <a:prstGeom prst="rect">
            <a:avLst/>
          </a:prstGeom>
          <a:noFill/>
          <a:ln/>
        </p:spPr>
        <p:txBody>
          <a:bodyPr wrap="square" lIns="0" tIns="0" rIns="0" bIns="0" rtlCol="0" anchor="ctr"/>
          <a:lstStyle/>
          <a:p>
            <a:pPr algn="r" indent="0" marL="0">
              <a:buNone/>
            </a:pPr>
            <a:r>
              <a:rPr lang="en-US" sz="1250" dirty="0">
                <a:solidFill>
                  <a:srgbClr val="4A5565"/>
                </a:solidFill>
                <a:latin typeface="Calibri" pitchFamily="34" charset="0"/>
                <a:ea typeface="Calibri" pitchFamily="34" charset="-122"/>
                <a:cs typeface="Calibri" pitchFamily="34" charset="-120"/>
              </a:rPr>
              <a:t>+ EHR (0.75)</a:t>
            </a:r>
            <a:endParaRPr lang="en-US" sz="1250" dirty="0"/>
          </a:p>
        </p:txBody>
      </p:sp>
      <p:sp>
        <p:nvSpPr>
          <p:cNvPr id="23" name="Shape 21"/>
          <p:cNvSpPr/>
          <p:nvPr/>
        </p:nvSpPr>
        <p:spPr>
          <a:xfrm>
            <a:off x="3566160" y="5120640"/>
            <a:ext cx="2377289" cy="256032"/>
          </a:xfrm>
          <a:prstGeom prst="rect">
            <a:avLst/>
          </a:prstGeom>
          <a:solidFill>
            <a:srgbClr val="B8C1CC"/>
          </a:solidFill>
          <a:ln w="6350">
            <a:solidFill>
              <a:srgbClr val="B8C1CC"/>
            </a:solidFill>
            <a:prstDash val="solid"/>
          </a:ln>
        </p:spPr>
      </p:sp>
      <p:sp>
        <p:nvSpPr>
          <p:cNvPr id="24" name="Text 22"/>
          <p:cNvSpPr txBox="1"/>
          <p:nvPr/>
        </p:nvSpPr>
        <p:spPr>
          <a:xfrm>
            <a:off x="6016601" y="5084064"/>
            <a:ext cx="822960" cy="329184"/>
          </a:xfrm>
          <a:prstGeom prst="rect">
            <a:avLst/>
          </a:prstGeom>
          <a:noFill/>
          <a:ln/>
        </p:spPr>
        <p:txBody>
          <a:bodyPr wrap="square" lIns="0" tIns="0" rIns="0" bIns="0" rtlCol="0" anchor="ctr"/>
          <a:lstStyle/>
          <a:p>
            <a:pPr indent="0" marL="0">
              <a:buNone/>
            </a:pPr>
            <a:r>
              <a:rPr lang="en-US" sz="1250" dirty="0">
                <a:solidFill>
                  <a:srgbClr val="4A5565"/>
                </a:solidFill>
                <a:latin typeface="Calibri" pitchFamily="34" charset="0"/>
                <a:ea typeface="Calibri" pitchFamily="34" charset="-122"/>
                <a:cs typeface="Calibri" pitchFamily="34" charset="-120"/>
              </a:rPr>
              <a:t>74.3%</a:t>
            </a:r>
            <a:endParaRPr lang="en-US" sz="1250" dirty="0"/>
          </a:p>
        </p:txBody>
      </p:sp>
      <p:sp>
        <p:nvSpPr>
          <p:cNvPr id="25" name="Text 23"/>
          <p:cNvSpPr txBox="1"/>
          <p:nvPr/>
        </p:nvSpPr>
        <p:spPr>
          <a:xfrm>
            <a:off x="548640" y="5522976"/>
            <a:ext cx="2926080" cy="329184"/>
          </a:xfrm>
          <a:prstGeom prst="rect">
            <a:avLst/>
          </a:prstGeom>
          <a:noFill/>
          <a:ln/>
        </p:spPr>
        <p:txBody>
          <a:bodyPr wrap="square" lIns="0" tIns="0" rIns="0" bIns="0" rtlCol="0" anchor="ctr"/>
          <a:lstStyle/>
          <a:p>
            <a:pPr algn="r" indent="0" marL="0">
              <a:buNone/>
            </a:pPr>
            <a:r>
              <a:rPr lang="en-US" sz="1250" b="1" dirty="0">
                <a:solidFill>
                  <a:srgbClr val="13202B"/>
                </a:solidFill>
                <a:latin typeface="Calibri" pitchFamily="34" charset="0"/>
                <a:ea typeface="Calibri" pitchFamily="34" charset="-122"/>
                <a:cs typeface="Calibri" pitchFamily="34" charset="-120"/>
              </a:rPr>
              <a:t>Prahari: + twin (0.75)</a:t>
            </a:r>
            <a:endParaRPr lang="en-US" sz="1250" dirty="0"/>
          </a:p>
        </p:txBody>
      </p:sp>
      <p:sp>
        <p:nvSpPr>
          <p:cNvPr id="26" name="Shape 24"/>
          <p:cNvSpPr/>
          <p:nvPr/>
        </p:nvSpPr>
        <p:spPr>
          <a:xfrm>
            <a:off x="3566160" y="5559552"/>
            <a:ext cx="2440593" cy="256032"/>
          </a:xfrm>
          <a:prstGeom prst="rect">
            <a:avLst/>
          </a:prstGeom>
          <a:solidFill>
            <a:srgbClr val="0F766E"/>
          </a:solidFill>
          <a:ln w="6350">
            <a:solidFill>
              <a:srgbClr val="0F766E"/>
            </a:solidFill>
            <a:prstDash val="solid"/>
          </a:ln>
        </p:spPr>
      </p:sp>
      <p:sp>
        <p:nvSpPr>
          <p:cNvPr id="27" name="Text 25"/>
          <p:cNvSpPr txBox="1"/>
          <p:nvPr/>
        </p:nvSpPr>
        <p:spPr>
          <a:xfrm>
            <a:off x="6079905" y="5522976"/>
            <a:ext cx="822960" cy="329184"/>
          </a:xfrm>
          <a:prstGeom prst="rect">
            <a:avLst/>
          </a:prstGeom>
          <a:noFill/>
          <a:ln/>
        </p:spPr>
        <p:txBody>
          <a:bodyPr wrap="square" lIns="0" tIns="0" rIns="0" bIns="0" rtlCol="0" anchor="ctr"/>
          <a:lstStyle/>
          <a:p>
            <a:pPr indent="0" marL="0">
              <a:buNone/>
            </a:pPr>
            <a:r>
              <a:rPr lang="en-US" sz="1250" b="1" dirty="0">
                <a:solidFill>
                  <a:srgbClr val="0F766E"/>
                </a:solidFill>
                <a:latin typeface="Calibri" pitchFamily="34" charset="0"/>
                <a:ea typeface="Calibri" pitchFamily="34" charset="-122"/>
                <a:cs typeface="Calibri" pitchFamily="34" charset="-120"/>
              </a:rPr>
              <a:t>76.3%</a:t>
            </a:r>
            <a:endParaRPr lang="en-US" sz="1250" dirty="0"/>
          </a:p>
        </p:txBody>
      </p:sp>
      <p:sp>
        <p:nvSpPr>
          <p:cNvPr id="28" name="Text 26"/>
          <p:cNvSpPr txBox="1"/>
          <p:nvPr/>
        </p:nvSpPr>
        <p:spPr>
          <a:xfrm>
            <a:off x="7772400" y="3840480"/>
            <a:ext cx="3931920" cy="246888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The twin's physics alone flags 78%, but only 35 min ahead; learning routines stretches it to 85</a:t>
            </a:r>
            <a:endParaRPr lang="en-US" sz="1350" dirty="0"/>
          </a:p>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Wearables and meal logs add most to alerts; the twin adds little on top</a:t>
            </a:r>
            <a:endParaRPr lang="en-US" sz="1350" dirty="0"/>
          </a:p>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Severe spikes above 250: 37% flagged (CGM only 30%) at 0.5 notifications a day</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CLINIC DASHBOARD</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The doctor's dashboard: who needs attention now, what will happen, and why</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11</a:t>
            </a:r>
            <a:endParaRPr lang="en-US" sz="900" dirty="0"/>
          </a:p>
        </p:txBody>
      </p:sp>
      <p:pic>
        <p:nvPicPr>
          <p:cNvPr id="6" name="Image 0" descr="/home/claude/dt/repo/docs/img/dash_overview.png">    </p:cNvPr>
          <p:cNvPicPr>
            <a:picLocks noChangeAspect="1"/>
          </p:cNvPicPr>
          <p:nvPr/>
        </p:nvPicPr>
        <p:blipFill>
          <a:blip r:embed="rId1"/>
          <a:stretch>
            <a:fillRect/>
          </a:stretch>
        </p:blipFill>
        <p:spPr>
          <a:xfrm>
            <a:off x="548640" y="1600200"/>
            <a:ext cx="7589520" cy="4743450"/>
          </a:xfrm>
          <a:prstGeom prst="rect">
            <a:avLst/>
          </a:prstGeom>
        </p:spPr>
      </p:pic>
      <p:sp>
        <p:nvSpPr>
          <p:cNvPr id="7" name="Text 4"/>
          <p:cNvSpPr txBox="1"/>
          <p:nvPr/>
        </p:nvSpPr>
        <p:spPr>
          <a:xfrm>
            <a:off x="8366760" y="1645920"/>
            <a:ext cx="3291840" cy="4572000"/>
          </a:xfrm>
          <a:prstGeom prst="rect">
            <a:avLst/>
          </a:prstGeom>
          <a:noFill/>
          <a:ln/>
        </p:spPr>
        <p:txBody>
          <a:bodyPr wrap="square" lIns="0" tIns="0" rIns="0" bIns="0" rtlCol="0" anchor="t"/>
          <a:lstStyle/>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Patients ranked by spike risk in the next 2 hours</a:t>
            </a:r>
            <a:endParaRPr lang="en-US" sz="1350" dirty="0"/>
          </a:p>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Alert card: risk above 180 and 250, forecast high, top three reasons, suggested nudge</a:t>
            </a:r>
            <a:endParaRPr lang="en-US" sz="1350" dirty="0"/>
          </a:p>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12 hours of CGM, meals and insulin, then the 2-hour forecast with its 80% band and the twin's own line</a:t>
            </a:r>
            <a:endParaRPr lang="en-US" sz="1350" dirty="0"/>
          </a:p>
          <a:p>
            <a:pPr marL="177800" indent="-177800">
              <a:spcAft>
                <a:spcPts val="600"/>
              </a:spcAft>
              <a:buSzPct val="100000"/>
              <a:buChar char="•"/>
            </a:pPr>
            <a:r>
              <a:rPr lang="en-US" sz="1350" dirty="0">
                <a:solidFill>
                  <a:srgbClr val="13202B"/>
                </a:solidFill>
                <a:latin typeface="Calibri" pitchFamily="34" charset="0"/>
                <a:ea typeface="Calibri" pitchFamily="34" charset="-122"/>
                <a:cs typeface="Calibri" pitchFamily="34" charset="-120"/>
              </a:rPr>
              <a:t>Replay any moment of the test fortnight; works offline, one HTML file</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USE CASE: PT-185</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The twin answers what-if questions for this patient: a 15-minute walk takes 14 mg/dL off her peak</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12</a:t>
            </a:r>
            <a:endParaRPr lang="en-US" sz="900" dirty="0"/>
          </a:p>
        </p:txBody>
      </p:sp>
      <p:pic>
        <p:nvPicPr>
          <p:cNvPr id="6" name="Image 0" descr="/home/claude/dt/repo/docs/img/dash_alert.png">    </p:cNvPr>
          <p:cNvPicPr>
            <a:picLocks noChangeAspect="1"/>
          </p:cNvPicPr>
          <p:nvPr/>
        </p:nvPicPr>
        <p:blipFill>
          <a:blip r:embed="rId1"/>
          <a:stretch>
            <a:fillRect/>
          </a:stretch>
        </p:blipFill>
        <p:spPr>
          <a:xfrm>
            <a:off x="548640" y="1645920"/>
            <a:ext cx="3749040" cy="2833485"/>
          </a:xfrm>
          <a:prstGeom prst="rect">
            <a:avLst/>
          </a:prstGeom>
        </p:spPr>
      </p:pic>
      <p:pic>
        <p:nvPicPr>
          <p:cNvPr id="7" name="Image 1" descr="/home/claude/dt/repo/docs/img/dash_whatif.png">    </p:cNvPr>
          <p:cNvPicPr>
            <a:picLocks noChangeAspect="1"/>
          </p:cNvPicPr>
          <p:nvPr/>
        </p:nvPicPr>
        <p:blipFill>
          <a:blip r:embed="rId2"/>
          <a:stretch>
            <a:fillRect/>
          </a:stretch>
        </p:blipFill>
        <p:spPr>
          <a:xfrm>
            <a:off x="4526280" y="1645920"/>
            <a:ext cx="3657600" cy="3343564"/>
          </a:xfrm>
          <a:prstGeom prst="rect">
            <a:avLst/>
          </a:prstGeom>
        </p:spPr>
      </p:pic>
      <p:pic>
        <p:nvPicPr>
          <p:cNvPr id="8" name="Image 2" descr="/home/claude/dt/repo/docs/img/dash_twin.png">    </p:cNvPr>
          <p:cNvPicPr>
            <a:picLocks noChangeAspect="1"/>
          </p:cNvPicPr>
          <p:nvPr/>
        </p:nvPicPr>
        <p:blipFill>
          <a:blip r:embed="rId3"/>
          <a:stretch>
            <a:fillRect/>
          </a:stretch>
        </p:blipFill>
        <p:spPr>
          <a:xfrm>
            <a:off x="8366760" y="1645920"/>
            <a:ext cx="3291840" cy="3763093"/>
          </a:xfrm>
          <a:prstGeom prst="rect">
            <a:avLst/>
          </a:prstGeom>
        </p:spPr>
      </p:pic>
      <p:sp>
        <p:nvSpPr>
          <p:cNvPr id="9" name="Text 4"/>
          <p:cNvSpPr txBox="1"/>
          <p:nvPr/>
        </p:nvSpPr>
        <p:spPr>
          <a:xfrm>
            <a:off x="548640" y="4616565"/>
            <a:ext cx="3749040" cy="1828800"/>
          </a:xfrm>
          <a:prstGeom prst="rect">
            <a:avLst/>
          </a:prstGeom>
          <a:noFill/>
          <a:ln/>
        </p:spPr>
        <p:txBody>
          <a:bodyPr wrap="square" lIns="0" tIns="0" rIns="0" bIns="0" rtlCol="0" anchor="t"/>
          <a:lstStyle/>
          <a:p>
            <a:pPr indent="0" marL="0">
              <a:buNone/>
            </a:pPr>
            <a:r>
              <a:rPr lang="en-US" sz="1250" dirty="0">
                <a:solidFill>
                  <a:srgbClr val="4A5565"/>
                </a:solidFill>
                <a:latin typeface="Calibri" pitchFamily="34" charset="0"/>
                <a:ea typeface="Calibri" pitchFamily="34" charset="-122"/>
                <a:cs typeface="Calibri" pitchFamily="34" charset="-120"/>
              </a:rPr>
              <a:t>44-year-old woman with T2D, HbA1c 7.3%, on metformin. Mon, 21 Sept 14:15, 14 minutes after a 132 g lunch; glucose 141. Prahari: 95% risk above 180, forecast high 307. A 15-minute walk: peak 297 → 283, time above 180 120 → 105 min.</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DEPLOYMENT IN INDIA</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Built for India's health stack: FHIR records, data minimisation, and a clear path through regulation</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548640" y="1691640"/>
            <a:ext cx="3566160" cy="3063240"/>
          </a:xfrm>
          <a:prstGeom prst="roundRect">
            <a:avLst>
              <a:gd name="adj" fmla="val 2388"/>
            </a:avLst>
          </a:prstGeom>
          <a:solidFill>
            <a:srgbClr val="E8EEF7"/>
          </a:solidFill>
          <a:ln w="6350">
            <a:solidFill>
              <a:srgbClr val="E8EEF7"/>
            </a:solidFill>
            <a:prstDash val="solid"/>
          </a:ln>
        </p:spPr>
      </p:sp>
      <p:sp>
        <p:nvSpPr>
          <p:cNvPr id="7" name="Text 5"/>
          <p:cNvSpPr txBox="1"/>
          <p:nvPr/>
        </p:nvSpPr>
        <p:spPr>
          <a:xfrm>
            <a:off x="777240" y="1874520"/>
            <a:ext cx="3108960" cy="411480"/>
          </a:xfrm>
          <a:prstGeom prst="rect">
            <a:avLst/>
          </a:prstGeom>
          <a:noFill/>
          <a:ln/>
        </p:spPr>
        <p:txBody>
          <a:bodyPr wrap="square" lIns="0" tIns="0" rIns="0" bIns="0" rtlCol="0" anchor="t"/>
          <a:lstStyle/>
          <a:p>
            <a:pPr indent="0" marL="0">
              <a:buNone/>
            </a:pPr>
            <a:r>
              <a:rPr lang="en-US" sz="1800" b="1" dirty="0">
                <a:solidFill>
                  <a:srgbClr val="1F4E8C"/>
                </a:solidFill>
                <a:latin typeface="Cambria" pitchFamily="34" charset="0"/>
                <a:ea typeface="Cambria" pitchFamily="34" charset="-122"/>
                <a:cs typeface="Cambria" pitchFamily="34" charset="-120"/>
              </a:rPr>
              <a:t>Interoperability</a:t>
            </a:r>
            <a:endParaRPr lang="en-US" sz="1800" dirty="0"/>
          </a:p>
        </p:txBody>
      </p:sp>
      <p:sp>
        <p:nvSpPr>
          <p:cNvPr id="8" name="Text 6"/>
          <p:cNvSpPr txBox="1"/>
          <p:nvPr/>
        </p:nvSpPr>
        <p:spPr>
          <a:xfrm>
            <a:off x="777240" y="2423160"/>
            <a:ext cx="3154680" cy="22402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Records exchanged as FHIR R4, the standard of the ABDM FHIR implementation guide (v6.5.0)</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Over 93 crore ABHA accounts already exist (PIB, July 2026) to link records</a:t>
            </a:r>
            <a:endParaRPr lang="en-US" sz="1500" dirty="0"/>
          </a:p>
        </p:txBody>
      </p:sp>
      <p:sp>
        <p:nvSpPr>
          <p:cNvPr id="9" name="Shape 7"/>
          <p:cNvSpPr/>
          <p:nvPr/>
        </p:nvSpPr>
        <p:spPr>
          <a:xfrm>
            <a:off x="4297680" y="1691640"/>
            <a:ext cx="3566160" cy="3063240"/>
          </a:xfrm>
          <a:prstGeom prst="roundRect">
            <a:avLst>
              <a:gd name="adj" fmla="val 2388"/>
            </a:avLst>
          </a:prstGeom>
          <a:solidFill>
            <a:srgbClr val="E3F2EF"/>
          </a:solidFill>
          <a:ln w="6350">
            <a:solidFill>
              <a:srgbClr val="E3F2EF"/>
            </a:solidFill>
            <a:prstDash val="solid"/>
          </a:ln>
        </p:spPr>
      </p:sp>
      <p:sp>
        <p:nvSpPr>
          <p:cNvPr id="10" name="Text 8"/>
          <p:cNvSpPr txBox="1"/>
          <p:nvPr/>
        </p:nvSpPr>
        <p:spPr>
          <a:xfrm>
            <a:off x="4526280" y="1874520"/>
            <a:ext cx="3108960" cy="41148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Privacy</a:t>
            </a:r>
            <a:endParaRPr lang="en-US" sz="1800" dirty="0"/>
          </a:p>
        </p:txBody>
      </p:sp>
      <p:sp>
        <p:nvSpPr>
          <p:cNvPr id="11" name="Text 9"/>
          <p:cNvSpPr txBox="1"/>
          <p:nvPr/>
        </p:nvSpPr>
        <p:spPr>
          <a:xfrm>
            <a:off x="4526280" y="2423160"/>
            <a:ext cx="3154680" cy="22402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Only the fields the model needs are kept, no names or identifiers</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Designed for consent and purpose limits under the DPDP Rules 2025, whose main duties apply from 13 May 2027</a:t>
            </a:r>
            <a:endParaRPr lang="en-US" sz="1500" dirty="0"/>
          </a:p>
        </p:txBody>
      </p:sp>
      <p:sp>
        <p:nvSpPr>
          <p:cNvPr id="12" name="Shape 10"/>
          <p:cNvSpPr/>
          <p:nvPr/>
        </p:nvSpPr>
        <p:spPr>
          <a:xfrm>
            <a:off x="8046720" y="1691640"/>
            <a:ext cx="3566160" cy="3063240"/>
          </a:xfrm>
          <a:prstGeom prst="roundRect">
            <a:avLst>
              <a:gd name="adj" fmla="val 2388"/>
            </a:avLst>
          </a:prstGeom>
          <a:solidFill>
            <a:srgbClr val="FDF1E1"/>
          </a:solidFill>
          <a:ln w="6350">
            <a:solidFill>
              <a:srgbClr val="FDF1E1"/>
            </a:solidFill>
            <a:prstDash val="solid"/>
          </a:ln>
        </p:spPr>
      </p:sp>
      <p:sp>
        <p:nvSpPr>
          <p:cNvPr id="13" name="Text 11"/>
          <p:cNvSpPr txBox="1"/>
          <p:nvPr/>
        </p:nvSpPr>
        <p:spPr>
          <a:xfrm>
            <a:off x="8275320" y="1874520"/>
            <a:ext cx="3108960" cy="41148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Regulation and pilot</a:t>
            </a:r>
            <a:endParaRPr lang="en-US" sz="1800" dirty="0"/>
          </a:p>
        </p:txBody>
      </p:sp>
      <p:sp>
        <p:nvSpPr>
          <p:cNvPr id="14" name="Text 12"/>
          <p:cNvSpPr txBox="1"/>
          <p:nvPr/>
        </p:nvSpPr>
        <p:spPr>
          <a:xfrm>
            <a:off x="8275320" y="2423160"/>
            <a:ext cx="3154680" cy="224028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As decision-support software it would be a medical device under CDSCO's risk classes A-D</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Next: validate on real CGM data, then a 12-week pilot with one diabetology clinic measuring time in range</a:t>
            </a:r>
            <a:endParaRPr lang="en-US" sz="1500" dirty="0"/>
          </a:p>
        </p:txBody>
      </p:sp>
      <p:sp>
        <p:nvSpPr>
          <p:cNvPr id="15" name="Shape 13"/>
          <p:cNvSpPr/>
          <p:nvPr/>
        </p:nvSpPr>
        <p:spPr>
          <a:xfrm>
            <a:off x="548640" y="4983480"/>
            <a:ext cx="11064240" cy="1188720"/>
          </a:xfrm>
          <a:prstGeom prst="roundRect">
            <a:avLst>
              <a:gd name="adj" fmla="val 6154"/>
            </a:avLst>
          </a:prstGeom>
          <a:solidFill>
            <a:srgbClr val="F3F5F8"/>
          </a:solidFill>
          <a:ln w="6350">
            <a:solidFill>
              <a:srgbClr val="F3F5F8"/>
            </a:solidFill>
            <a:prstDash val="solid"/>
          </a:ln>
        </p:spPr>
      </p:sp>
      <p:sp>
        <p:nvSpPr>
          <p:cNvPr id="16" name="Text 14"/>
          <p:cNvSpPr txBox="1"/>
          <p:nvPr/>
        </p:nvSpPr>
        <p:spPr>
          <a:xfrm>
            <a:off x="777240" y="5120640"/>
            <a:ext cx="10607040" cy="914400"/>
          </a:xfrm>
          <a:prstGeom prst="rect">
            <a:avLst/>
          </a:prstGeom>
          <a:noFill/>
          <a:ln/>
        </p:spPr>
        <p:txBody>
          <a:bodyPr wrap="square" lIns="0" tIns="0" rIns="0" bIns="0" rtlCol="0" anchor="ctr"/>
          <a:lstStyle/>
          <a:p>
            <a:pPr indent="0" marL="0">
              <a:buNone/>
            </a:pPr>
            <a:r>
              <a:rPr lang="en-US" sz="1500" b="1" dirty="0">
                <a:solidFill>
                  <a:srgbClr val="0F766E"/>
                </a:solidFill>
                <a:latin typeface="Calibri" pitchFamily="34" charset="0"/>
                <a:ea typeface="Calibri" pitchFamily="34" charset="-122"/>
                <a:cs typeface="Calibri" pitchFamily="34" charset="-120"/>
              </a:rPr>
              <a:t>What a pilot would measure: </a:t>
            </a:r>
            <a:pPr indent="0" marL="0">
              <a:buNone/>
            </a:pPr>
            <a:r>
              <a:rPr lang="en-US" sz="1500" dirty="0">
                <a:solidFill>
                  <a:srgbClr val="13202B"/>
                </a:solidFill>
                <a:latin typeface="Calibri" pitchFamily="34" charset="0"/>
                <a:ea typeface="Calibri" pitchFamily="34" charset="-122"/>
                <a:cs typeface="Calibri" pitchFamily="34" charset="-120"/>
              </a:rPr>
              <a:t>time in range and time above 250 mg/dL before and after 12 weeks, share of alerts the doctor found useful, false alerts per patient-day, and minutes of doctor time per patient review.</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56032"/>
          </a:xfrm>
          <a:prstGeom prst="rect">
            <a:avLst/>
          </a:prstGeom>
          <a:noFill/>
          <a:ln/>
        </p:spPr>
        <p:txBody>
          <a:bodyPr wrap="square" lIns="0" tIns="0" rIns="0" bIns="0" rtlCol="0" anchor="ctr"/>
          <a:lstStyle/>
          <a:p>
            <a:pPr indent="0" marL="0">
              <a:buNone/>
            </a:pPr>
            <a:r>
              <a:rPr lang="en-US" sz="1100" b="1" spc="200" kern="0" dirty="0">
                <a:solidFill>
                  <a:srgbClr val="0F766E"/>
                </a:solidFill>
                <a:latin typeface="Calibri" pitchFamily="34" charset="0"/>
                <a:ea typeface="Calibri" pitchFamily="34" charset="-122"/>
                <a:cs typeface="Calibri" pitchFamily="34" charset="-120"/>
              </a:rPr>
              <a:t>LIMITS AND NEXT STEPS</a:t>
            </a:r>
            <a:endParaRPr lang="en-US" sz="1100" dirty="0"/>
          </a:p>
        </p:txBody>
      </p:sp>
      <p:sp>
        <p:nvSpPr>
          <p:cNvPr id="3" name="Text 1"/>
          <p:cNvSpPr txBox="1"/>
          <p:nvPr/>
        </p:nvSpPr>
        <p:spPr>
          <a:xfrm>
            <a:off x="548640" y="566928"/>
            <a:ext cx="11064240" cy="868680"/>
          </a:xfrm>
          <a:prstGeom prst="rect">
            <a:avLst/>
          </a:prstGeom>
          <a:noFill/>
          <a:ln/>
        </p:spPr>
        <p:txBody>
          <a:bodyPr wrap="square" lIns="0" tIns="0" rIns="0" bIns="0" rtlCol="0" anchor="t"/>
          <a:lstStyle/>
          <a:p>
            <a:pPr indent="0" marL="0">
              <a:buNone/>
            </a:pPr>
            <a:r>
              <a:rPr lang="en-US" sz="2800" b="1" dirty="0">
                <a:solidFill>
                  <a:srgbClr val="13202B"/>
                </a:solidFill>
                <a:latin typeface="Cambria" pitchFamily="34" charset="0"/>
                <a:ea typeface="Cambria" pitchFamily="34" charset="-122"/>
                <a:cs typeface="Cambria" pitchFamily="34" charset="-120"/>
              </a:rPr>
              <a:t>What these results do not show yet, and what I would do next</a:t>
            </a:r>
            <a:endParaRPr lang="en-US" sz="2800" dirty="0"/>
          </a:p>
        </p:txBody>
      </p:sp>
      <p:sp>
        <p:nvSpPr>
          <p:cNvPr id="4" name="Text 2"/>
          <p:cNvSpPr txBox="1"/>
          <p:nvPr/>
        </p:nvSpPr>
        <p:spPr>
          <a:xfrm>
            <a:off x="548640" y="6446520"/>
            <a:ext cx="8229600" cy="228600"/>
          </a:xfrm>
          <a:prstGeom prst="rect">
            <a:avLst/>
          </a:prstGeom>
          <a:noFill/>
          <a:ln/>
        </p:spPr>
        <p:txBody>
          <a:bodyPr wrap="square" lIns="0" tIns="0" rIns="0" bIns="0" rtlCol="0" anchor="ctr"/>
          <a:lstStyle/>
          <a:p>
            <a:pPr indent="0" marL="0">
              <a:buNone/>
            </a:pPr>
            <a:r>
              <a:rPr lang="en-US" sz="900" dirty="0">
                <a:solidFill>
                  <a:srgbClr val="7A8494"/>
                </a:solidFill>
                <a:latin typeface="Calibri" pitchFamily="34" charset="0"/>
                <a:ea typeface="Calibri" pitchFamily="34" charset="-122"/>
                <a:cs typeface="Calibri" pitchFamily="34" charset="-120"/>
              </a:rPr>
              <a:t>Prahari · Team Songer, IIM Visakhapatnam · synthetic data, research prototype</a:t>
            </a:r>
            <a:endParaRPr lang="en-US" sz="900" dirty="0"/>
          </a:p>
        </p:txBody>
      </p:sp>
      <p:sp>
        <p:nvSpPr>
          <p:cNvPr id="5" name="Text 3"/>
          <p:cNvSpPr txBox="1"/>
          <p:nvPr/>
        </p:nvSpPr>
        <p:spPr>
          <a:xfrm>
            <a:off x="11155680" y="6446520"/>
            <a:ext cx="457200" cy="228600"/>
          </a:xfrm>
          <a:prstGeom prst="rect">
            <a:avLst/>
          </a:prstGeom>
          <a:noFill/>
          <a:ln/>
        </p:spPr>
        <p:txBody>
          <a:bodyPr wrap="square" lIns="0" tIns="0" rIns="0" bIns="0" rtlCol="0" anchor="ctr"/>
          <a:lstStyle/>
          <a:p>
            <a:pPr algn="r" indent="0" marL="0">
              <a:buNone/>
            </a:pPr>
            <a:r>
              <a:rPr lang="en-US" sz="900" dirty="0">
                <a:solidFill>
                  <a:srgbClr val="7A8494"/>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691640"/>
            <a:ext cx="5440680" cy="3429000"/>
          </a:xfrm>
          <a:prstGeom prst="roundRect">
            <a:avLst>
              <a:gd name="adj" fmla="val 2133"/>
            </a:avLst>
          </a:prstGeom>
          <a:solidFill>
            <a:srgbClr val="F3F5F8"/>
          </a:solidFill>
          <a:ln w="6350">
            <a:solidFill>
              <a:srgbClr val="F3F5F8"/>
            </a:solidFill>
            <a:prstDash val="solid"/>
          </a:ln>
        </p:spPr>
      </p:sp>
      <p:sp>
        <p:nvSpPr>
          <p:cNvPr id="7" name="Text 5"/>
          <p:cNvSpPr txBox="1"/>
          <p:nvPr/>
        </p:nvSpPr>
        <p:spPr>
          <a:xfrm>
            <a:off x="777240" y="1874520"/>
            <a:ext cx="4937760" cy="365760"/>
          </a:xfrm>
          <a:prstGeom prst="rect">
            <a:avLst/>
          </a:prstGeom>
          <a:noFill/>
          <a:ln/>
        </p:spPr>
        <p:txBody>
          <a:bodyPr wrap="square" lIns="0" tIns="0" rIns="0" bIns="0" rtlCol="0" anchor="t"/>
          <a:lstStyle/>
          <a:p>
            <a:pPr indent="0" marL="0">
              <a:buNone/>
            </a:pPr>
            <a:r>
              <a:rPr lang="en-US" sz="1800" b="1" dirty="0">
                <a:solidFill>
                  <a:srgbClr val="B42318"/>
                </a:solidFill>
                <a:latin typeface="Cambria" pitchFamily="34" charset="0"/>
                <a:ea typeface="Cambria" pitchFamily="34" charset="-122"/>
                <a:cs typeface="Cambria" pitchFamily="34" charset="-120"/>
              </a:rPr>
              <a:t>Limits</a:t>
            </a:r>
            <a:endParaRPr lang="en-US" sz="1800" dirty="0"/>
          </a:p>
        </p:txBody>
      </p:sp>
      <p:sp>
        <p:nvSpPr>
          <p:cNvPr id="8" name="Text 6"/>
          <p:cNvSpPr txBox="1"/>
          <p:nvPr/>
        </p:nvSpPr>
        <p:spPr>
          <a:xfrm>
            <a:off x="777240" y="2331720"/>
            <a:ext cx="5029200" cy="27432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All patients are synthetic and more regular than real people, so real-world error will be higher. On the real OhioT1DM data, published deep models reach 55-66 mg/dL at 2 hours (Tena 2021)</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At HbA1c 7% my virtual patients have more time in range than real cohorts</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No hypoglycaemia in the simulated cohort, so lows are not predicted yet</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The 80% band covers 78% of outcomes at 60 min; it needs calibration</a:t>
            </a:r>
            <a:endParaRPr lang="en-US" sz="1400" dirty="0"/>
          </a:p>
          <a:p>
            <a:pPr marL="177800" indent="-177800">
              <a:spcAft>
                <a:spcPts val="600"/>
              </a:spcAft>
              <a:buSzPct val="100000"/>
              <a:buChar char="•"/>
            </a:pPr>
            <a:r>
              <a:rPr lang="en-US" sz="1400" dirty="0">
                <a:solidFill>
                  <a:srgbClr val="13202B"/>
                </a:solidFill>
                <a:latin typeface="Calibri" pitchFamily="34" charset="0"/>
                <a:ea typeface="Calibri" pitchFamily="34" charset="-122"/>
                <a:cs typeface="Calibri" pitchFamily="34" charset="-120"/>
              </a:rPr>
              <a:t>Many alerts come before habitual meals: the model learns routines</a:t>
            </a:r>
            <a:endParaRPr lang="en-US" sz="1400" dirty="0"/>
          </a:p>
        </p:txBody>
      </p:sp>
      <p:sp>
        <p:nvSpPr>
          <p:cNvPr id="9" name="Shape 7"/>
          <p:cNvSpPr/>
          <p:nvPr/>
        </p:nvSpPr>
        <p:spPr>
          <a:xfrm>
            <a:off x="6217920" y="1691640"/>
            <a:ext cx="5440680" cy="3429000"/>
          </a:xfrm>
          <a:prstGeom prst="roundRect">
            <a:avLst>
              <a:gd name="adj" fmla="val 2133"/>
            </a:avLst>
          </a:prstGeom>
          <a:solidFill>
            <a:srgbClr val="E3F2EF"/>
          </a:solidFill>
          <a:ln w="6350">
            <a:solidFill>
              <a:srgbClr val="E3F2EF"/>
            </a:solidFill>
            <a:prstDash val="solid"/>
          </a:ln>
        </p:spPr>
      </p:sp>
      <p:sp>
        <p:nvSpPr>
          <p:cNvPr id="10" name="Text 8"/>
          <p:cNvSpPr txBox="1"/>
          <p:nvPr/>
        </p:nvSpPr>
        <p:spPr>
          <a:xfrm>
            <a:off x="6446520" y="1874520"/>
            <a:ext cx="4937760" cy="365760"/>
          </a:xfrm>
          <a:prstGeom prst="rect">
            <a:avLst/>
          </a:prstGeom>
          <a:noFill/>
          <a:ln/>
        </p:spPr>
        <p:txBody>
          <a:bodyPr wrap="square" lIns="0" tIns="0" rIns="0" bIns="0" rtlCol="0" anchor="t"/>
          <a:lstStyle/>
          <a:p>
            <a:pPr indent="0" marL="0">
              <a:buNone/>
            </a:pPr>
            <a:r>
              <a:rPr lang="en-US" sz="1800" b="1" dirty="0">
                <a:solidFill>
                  <a:srgbClr val="0F766E"/>
                </a:solidFill>
                <a:latin typeface="Cambria" pitchFamily="34" charset="0"/>
                <a:ea typeface="Cambria" pitchFamily="34" charset="-122"/>
                <a:cs typeface="Cambria" pitchFamily="34" charset="-120"/>
              </a:rPr>
              <a:t>Next</a:t>
            </a:r>
            <a:endParaRPr lang="en-US" sz="1800" dirty="0"/>
          </a:p>
        </p:txBody>
      </p:sp>
      <p:sp>
        <p:nvSpPr>
          <p:cNvPr id="11" name="Text 9"/>
          <p:cNvSpPr txBox="1"/>
          <p:nvPr/>
        </p:nvSpPr>
        <p:spPr>
          <a:xfrm>
            <a:off x="6446520" y="2331720"/>
            <a:ext cx="5029200" cy="274320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Validate on open real-world T2D CGM data, then a consented Indian cohort</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Add hypoglycaemia risk for insulin users and conformal prediction bands</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Estimate carbs from meal photos, so logging takes one tap</a:t>
            </a:r>
            <a:endParaRPr lang="en-US" sz="1500" dirty="0"/>
          </a:p>
          <a:p>
            <a:pPr marL="177800" indent="-177800">
              <a:spcAft>
                <a:spcPts val="600"/>
              </a:spcAft>
              <a:buSzPct val="100000"/>
              <a:buChar char="•"/>
            </a:pPr>
            <a:r>
              <a:rPr lang="en-US" sz="1500" dirty="0">
                <a:solidFill>
                  <a:srgbClr val="13202B"/>
                </a:solidFill>
                <a:latin typeface="Calibri" pitchFamily="34" charset="0"/>
                <a:ea typeface="Calibri" pitchFamily="34" charset="-122"/>
                <a:cs typeface="Calibri" pitchFamily="34" charset="-120"/>
              </a:rPr>
              <a:t>12-week clinic pilot: doctor dashboard plus patient nudges, measured by time in range</a:t>
            </a:r>
            <a:endParaRPr lang="en-US" sz="1500" dirty="0"/>
          </a:p>
        </p:txBody>
      </p:sp>
      <p:sp>
        <p:nvSpPr>
          <p:cNvPr id="12" name="Shape 10"/>
          <p:cNvSpPr/>
          <p:nvPr/>
        </p:nvSpPr>
        <p:spPr>
          <a:xfrm>
            <a:off x="548640" y="5303520"/>
            <a:ext cx="11064240" cy="868680"/>
          </a:xfrm>
          <a:prstGeom prst="roundRect">
            <a:avLst>
              <a:gd name="adj" fmla="val 8421"/>
            </a:avLst>
          </a:prstGeom>
          <a:solidFill>
            <a:srgbClr val="FDF1E1"/>
          </a:solidFill>
          <a:ln w="6350">
            <a:solidFill>
              <a:srgbClr val="FDF1E1"/>
            </a:solidFill>
            <a:prstDash val="solid"/>
          </a:ln>
        </p:spPr>
      </p:sp>
      <p:sp>
        <p:nvSpPr>
          <p:cNvPr id="13" name="Text 11"/>
          <p:cNvSpPr txBox="1"/>
          <p:nvPr/>
        </p:nvSpPr>
        <p:spPr>
          <a:xfrm>
            <a:off x="777240" y="5394960"/>
            <a:ext cx="10607040" cy="685800"/>
          </a:xfrm>
          <a:prstGeom prst="rect">
            <a:avLst/>
          </a:prstGeom>
          <a:noFill/>
          <a:ln/>
        </p:spPr>
        <p:txBody>
          <a:bodyPr wrap="square" lIns="0" tIns="0" rIns="0" bIns="0" rtlCol="0" anchor="ctr"/>
          <a:lstStyle/>
          <a:p>
            <a:pPr indent="0" marL="0">
              <a:buNone/>
            </a:pPr>
            <a:r>
              <a:rPr lang="en-US" sz="1500" b="1" dirty="0">
                <a:solidFill>
                  <a:srgbClr val="B45309"/>
                </a:solidFill>
                <a:latin typeface="Calibri" pitchFamily="34" charset="0"/>
                <a:ea typeface="Calibri" pitchFamily="34" charset="-122"/>
                <a:cs typeface="Calibri" pitchFamily="34" charset="-120"/>
              </a:rPr>
              <a:t>The bar to clear on real data: </a:t>
            </a:r>
            <a:pPr indent="0" marL="0">
              <a:buNone/>
            </a:pPr>
            <a:r>
              <a:rPr lang="en-US" sz="1500" dirty="0">
                <a:solidFill>
                  <a:srgbClr val="13202B"/>
                </a:solidFill>
                <a:latin typeface="Calibri" pitchFamily="34" charset="0"/>
                <a:ea typeface="Calibri" pitchFamily="34" charset="-122"/>
                <a:cs typeface="Calibri" pitchFamily="34" charset="-120"/>
              </a:rPr>
              <a:t>on the real ShanghaiT2DM CGM dataset, a published Bayesian model reaches 13.5 and 21.4 mg/dL at 30 and 60 minutes (Sun &amp; Kosmas, 2024).</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A24"/>
        </a:solidFill>
      </p:bgPr>
    </p:bg>
    <p:spTree>
      <p:nvGrpSpPr>
        <p:cNvPr id="1" name=""/>
        <p:cNvGrpSpPr/>
        <p:nvPr/>
      </p:nvGrpSpPr>
      <p:grpSpPr>
        <a:xfrm>
          <a:off x="0" y="0"/>
          <a:ext cx="0" cy="0"/>
          <a:chOff x="0" y="0"/>
          <a:chExt cx="0" cy="0"/>
        </a:xfrm>
      </p:grpSpPr>
      <p:sp>
        <p:nvSpPr>
          <p:cNvPr id="2" name="Text 0"/>
          <p:cNvSpPr txBox="1"/>
          <p:nvPr/>
        </p:nvSpPr>
        <p:spPr>
          <a:xfrm>
            <a:off x="731520" y="1188720"/>
            <a:ext cx="10058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Prahari</a:t>
            </a:r>
            <a:endParaRPr lang="en-US" sz="4800" dirty="0"/>
          </a:p>
        </p:txBody>
      </p:sp>
      <p:sp>
        <p:nvSpPr>
          <p:cNvPr id="3" name="Text 1"/>
          <p:cNvSpPr txBox="1"/>
          <p:nvPr/>
        </p:nvSpPr>
        <p:spPr>
          <a:xfrm>
            <a:off x="731520" y="2194560"/>
            <a:ext cx="10515600" cy="1005840"/>
          </a:xfrm>
          <a:prstGeom prst="rect">
            <a:avLst/>
          </a:prstGeom>
          <a:noFill/>
          <a:ln/>
        </p:spPr>
        <p:txBody>
          <a:bodyPr wrap="square" lIns="0" tIns="0" rIns="0" bIns="0" rtlCol="0" anchor="t"/>
          <a:lstStyle/>
          <a:p>
            <a:pPr indent="0" marL="0">
              <a:buNone/>
            </a:pPr>
            <a:r>
              <a:rPr lang="en-US" sz="2200" dirty="0">
                <a:solidFill>
                  <a:srgbClr val="C9D6E2"/>
                </a:solidFill>
                <a:latin typeface="Calibri" pitchFamily="34" charset="0"/>
                <a:ea typeface="Calibri" pitchFamily="34" charset="-122"/>
                <a:cs typeface="Calibri" pitchFamily="34" charset="-120"/>
              </a:rPr>
              <a:t>A twin for every patient. An early warning for most spikes. A reason for every warning. An action the twin has simulated.</a:t>
            </a:r>
            <a:endParaRPr lang="en-US" sz="2200" dirty="0"/>
          </a:p>
        </p:txBody>
      </p:sp>
      <p:sp>
        <p:nvSpPr>
          <p:cNvPr id="4" name="Text 2"/>
          <p:cNvSpPr txBox="1"/>
          <p:nvPr/>
        </p:nvSpPr>
        <p:spPr>
          <a:xfrm>
            <a:off x="731520" y="3657600"/>
            <a:ext cx="10515600" cy="1463040"/>
          </a:xfrm>
          <a:prstGeom prst="rect">
            <a:avLst/>
          </a:prstGeom>
          <a:noFill/>
          <a:ln/>
        </p:spPr>
        <p:txBody>
          <a:bodyPr wrap="square" lIns="0" tIns="0" rIns="0" bIns="0" rtlCol="0" anchor="t"/>
          <a:lstStyle/>
          <a:p>
            <a:pPr marL="177800" indent="-1778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Code, data, models and results: public GitHub repository Songer_IIMVisakhapatnam (MIT licence)</a:t>
            </a:r>
            <a:endParaRPr lang="en-US" sz="1600" dirty="0"/>
          </a:p>
          <a:p>
            <a:pPr marL="177800" indent="-1778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Dashboard: docs/index.html, also on GitHub Pages</a:t>
            </a:r>
            <a:endParaRPr lang="en-US" sz="1600" dirty="0"/>
          </a:p>
          <a:p>
            <a:pPr marL="177800" indent="-177800">
              <a:spcAft>
                <a:spcPts val="600"/>
              </a:spcAft>
              <a:buSzPct val="100000"/>
              <a:buChar char="•"/>
            </a:pPr>
            <a:r>
              <a:rPr lang="en-US" sz="1600" dirty="0">
                <a:solidFill>
                  <a:srgbClr val="FFFFFF"/>
                </a:solidFill>
                <a:latin typeface="Calibri" pitchFamily="34" charset="0"/>
                <a:ea typeface="Calibri" pitchFamily="34" charset="-122"/>
                <a:cs typeface="Calibri" pitchFamily="34" charset="-120"/>
              </a:rPr>
              <a:t>Reproduce everything: python scripts/run_all.py</a:t>
            </a:r>
            <a:endParaRPr lang="en-US" sz="1600" dirty="0"/>
          </a:p>
        </p:txBody>
      </p:sp>
      <p:sp>
        <p:nvSpPr>
          <p:cNvPr id="5" name="Text 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500" b="1" dirty="0">
                <a:solidFill>
                  <a:srgbClr val="5EEAD4"/>
                </a:solidFill>
                <a:latin typeface="Calibri" pitchFamily="34" charset="0"/>
                <a:ea typeface="Calibri" pitchFamily="34" charset="-122"/>
                <a:cs typeface="Calibri" pitchFamily="34" charset="-120"/>
              </a:rPr>
              <a:t>Siddharth Yadav · Team Songer · IIM Visakhapatnam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Team Songer, IIM Visakhapatnam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Prahari: a digital twin for type 2 diabetes</dc:title>
  <dc:subject>PptxGenJS Presentation</dc:subject>
  <dc:creator>Siddharth Yadav</dc:creator>
  <cp:lastModifiedBy>Siddharth Yadav</cp:lastModifiedBy>
  <cp:revision>1</cp:revision>
  <dcterms:created xsi:type="dcterms:W3CDTF">2026-10-20T12:42:31Z</dcterms:created>
  <dcterms:modified xsi:type="dcterms:W3CDTF">2026-10-20T12:42:31Z</dcterms:modified>
</cp:coreProperties>
</file>